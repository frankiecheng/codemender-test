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CodeMender v0.14.0 security benchmark briefing, grounded in 43 controlled runs across Python (ref-codemender-test), Node.js (juice-shop), and Java (mall).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43-run evaluation metrics uncovered 100% (11/11) Python ground-truth recall with 0% FP, 118 Node.js findings (4.92x lift), and 90 Java findings (9.0x lift).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Passing literal filenames like requirements.txt in --deep -c caused 0 findings in 0.5s (py_13) due to regex file scoping plus Tier 0 pruning. Semantic descriptions restored 100%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--deep taint pipeline operates in three stages: route enumeration, inter-procedural taint propagation across 16 workers, and sink verification with 0% false positives on safe_join.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43 runs, Gemini 3.8 Flash and 4 Argon both achieve 100% (11/11) Python Ground Truth recall, 118 Node.js bugs, and 90 Java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from c0_none to c3_hybrid_max lifts Python Ground Truth recall from 72.7% (8/11) to 100% (11/11, even on 3.5-flash), Node.js to 118 bugs, and Java to 90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stacked bar chart summarizes our 43-run ablation growth across Python, Node.js, and Java, showing 100% precision (0% FP on safe_join) alongside 4.9x–9.0x discovery 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scan mode to repository size: Quick + c3_hybrid_max or Argon --deep on 1-5 file Python microservices (100% recall), and 16-worker --deep on medium/large Node.js and Java repos.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OWASP Juice Shop typescript routes, Gemini 3.8 Flash with --deep and c3_hybrid_max identified 118 vulnerabilities across 35 unique CWEs in 223.7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macrozheng/mall Spring Boot codebase, combining Java controllers, Spring YAML configs, and MyBatis XML mappers yielded 90 findings across 29 CWEs.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copy-paste pipeline automation template in CI/CD to configure config.yaml extensions, inject a semantic hybrid -c brief, and invoke cm find --deep.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these five golden rules verified across 43 runs in Python, Node.js, and Java to achieve 100% Ground Truth recall with 0%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4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4.png"/><Relationship Id="rId4" Type="http://schemas.openxmlformats.org/officeDocument/2006/relationships/image" Target="../media/image31.jp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2752x1536;crop=0.004,0.000;out=2731x1536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682877"/>
            <a:ext cx="5120485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285F4"/>
                </a:solidFill>
                <a:latin typeface="Roboto"/>
                <a:ea typeface="Noto Sans SC"/>
              </a:rPr>
              <a:t>SECURITY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97405"/>
            <a:ext cx="5120485" cy="112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02124"/>
                </a:solidFill>
                <a:latin typeface="Roboto"/>
                <a:ea typeface="Noto Sans SC"/>
              </a:rPr>
              <a:t>CodeMender best practices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62909"/>
            <a:ext cx="1051560" cy="5029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87521"/>
            <a:ext cx="5120485" cy="656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sz="1700" b="0">
                <a:solidFill>
                  <a:srgbClr val="4A4E54"/>
                </a:solidFill>
                <a:latin typeface="Roboto"/>
                <a:ea typeface="Noto Sans SC"/>
              </a:rPr>
              <a:t>43 runs across Python, Node.js &amp; Java (Benchmark)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53328"/>
            <a:ext cx="512048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368"/>
                </a:solidFill>
                <a:latin typeface="Roboto"/>
                <a:ea typeface="Noto Sans SC"/>
              </a:rPr>
              <a:t>Google Cloud · CodeMender v0.14.0</a:t>
            </a:r>
          </a:p>
        </p:txBody>
      </p:sp>
      <p:pic>
        <p:nvPicPr>
          <p:cNvPr id="12" name="Picture 11" descr="scrub:native=764x764;crop=0.000,0.000;out=580x580;exif=0;origin=gen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343400"/>
            <a:ext cx="1325880" cy="1325880"/>
          </a:xfrm>
          <a:prstGeom prst="rect">
            <a:avLst/>
          </a:prstGeom>
        </p:spPr>
      </p:pic>
      <p:sp>
        <p:nvSpPr>
          <p:cNvPr id="13" name="sig-mark"/>
          <p:cNvSpPr/>
          <p:nvPr/>
        </p:nvSpPr>
        <p:spPr>
          <a:xfrm>
            <a:off x="1801368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ig-mark"/>
          <p:cNvSpPr/>
          <p:nvPr/>
        </p:nvSpPr>
        <p:spPr>
          <a:xfrm>
            <a:off x="1984248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ig-mark"/>
          <p:cNvSpPr/>
          <p:nvPr/>
        </p:nvSpPr>
        <p:spPr>
          <a:xfrm>
            <a:off x="2167128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ig-mark"/>
          <p:cNvSpPr/>
          <p:nvPr/>
        </p:nvSpPr>
        <p:spPr>
          <a:xfrm>
            <a:off x="2350008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dh-header-kicker"/>
          <p:cNvSpPr txBox="1"/>
          <p:nvPr/>
        </p:nvSpPr>
        <p:spPr>
          <a:xfrm>
            <a:off x="502920" y="274320"/>
            <a:ext cx="54252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285F4"/>
                </a:solidFill>
                <a:latin typeface="Roboto"/>
                <a:ea typeface="Noto Sans SC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425283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Four discoveries redefine CodeMender deployment</a:t>
            </a:r>
          </a:p>
        </p:txBody>
      </p:sp>
      <p:pic>
        <p:nvPicPr>
          <p:cNvPr id="5" name="Picture 4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6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26364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79"/>
            <a:ext cx="2270683" cy="445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185ABC"/>
                </a:solidFill>
                <a:latin typeface="Roboto"/>
                <a:ea typeface="Noto Sans SC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4119"/>
            <a:ext cx="2270683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Python GT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0152"/>
            <a:ext cx="2270683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11/11 vulns, 0% FP (Benchmark)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7963" y="1874519"/>
            <a:ext cx="26364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0843" y="2011679"/>
            <a:ext cx="2270683" cy="445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185ABC"/>
                </a:solidFill>
                <a:latin typeface="Roboto"/>
                <a:ea typeface="Noto Sans SC"/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0843" y="2484119"/>
            <a:ext cx="2270683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Peak Node.js bugs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843" y="2740152"/>
            <a:ext cx="2270683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19 Crit, 58 High (Benchmark)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1874519"/>
            <a:ext cx="26364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167" y="2011679"/>
            <a:ext cx="2270683" cy="445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137333"/>
                </a:solidFill>
                <a:latin typeface="Roboto"/>
                <a:ea typeface="Noto Sans SC"/>
              </a:rPr>
              <a:t>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484119"/>
            <a:ext cx="2270683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Peak Java bugs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740152"/>
            <a:ext cx="2270683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8 Crit, 36 High (Benchmark)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611" y="1874519"/>
            <a:ext cx="2636443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491" y="2011679"/>
            <a:ext cx="2270683" cy="445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>
                <a:solidFill>
                  <a:srgbClr val="C5221F"/>
                </a:solidFill>
                <a:latin typeface="Roboto"/>
                <a:ea typeface="Noto Sans SC"/>
              </a:rPr>
              <a:t>9.0x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491" y="2484119"/>
            <a:ext cx="2270683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Deep mode uplift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491" y="2740152"/>
            <a:ext cx="2270683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10 to 90 Java bugs (Benchmark)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493008"/>
            <a:ext cx="3564026" cy="21031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493008"/>
            <a:ext cx="3564026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crub:native=840x840;crop=0.000,0.000;out=400x400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694176"/>
            <a:ext cx="914400" cy="914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19072" y="3694176"/>
            <a:ext cx="22655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202124"/>
                </a:solidFill>
                <a:latin typeface="Roboto"/>
                <a:ea typeface="Noto Sans SC"/>
              </a:rPr>
              <a:t>100% ground-truth recall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4151376"/>
            <a:ext cx="2265578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0">
                <a:solidFill>
                  <a:srgbClr val="5F6368"/>
                </a:solidFill>
                <a:latin typeface="Roboto"/>
                <a:ea typeface="Noto Sans SC"/>
              </a:rPr>
              <a:t>On Python ref-codemender-test, c3_hybrid_max hits 11/11 recall with 0% false positives.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3834" y="3493008"/>
            <a:ext cx="3564026" cy="21031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3834" y="3493008"/>
            <a:ext cx="3564026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crub:native=836x836;crop=0.000,0.000;out=400x400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138" y="3694176"/>
            <a:ext cx="914400" cy="9144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484266" y="3694176"/>
            <a:ext cx="22655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202124"/>
                </a:solidFill>
                <a:latin typeface="Roboto"/>
                <a:ea typeface="Noto Sans SC"/>
              </a:rPr>
              <a:t>4.9x–9.0x deep mode lift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4266" y="4151376"/>
            <a:ext cx="2265578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0">
                <a:solidFill>
                  <a:srgbClr val="5F6368"/>
                </a:solidFill>
                <a:latin typeface="Roboto"/>
                <a:ea typeface="Noto Sans SC"/>
              </a:rPr>
              <a:t>Concurrent --deep workers jump findings from 24 to 118 (Node.js) and 10 to 90 (Java).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9028" y="3493008"/>
            <a:ext cx="3564026" cy="210312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79028" y="3493008"/>
            <a:ext cx="3564026" cy="54864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crub:native=820x820;crop=0.000,0.000;out=400x400;exif=0;origin=gen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332" y="3694176"/>
            <a:ext cx="914400" cy="914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49460" y="3694176"/>
            <a:ext cx="226557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202124"/>
                </a:solidFill>
                <a:latin typeface="Roboto"/>
                <a:ea typeface="Noto Sans SC"/>
              </a:rPr>
              <a:t>No literal filenames in -c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9460" y="4151376"/>
            <a:ext cx="2265578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0">
                <a:solidFill>
                  <a:srgbClr val="5F6368"/>
                </a:solidFill>
                <a:latin typeface="Roboto"/>
                <a:ea typeface="Noto Sans SC"/>
              </a:rPr>
              <a:t>Avoid literal file.ext in --deep -c prompts so Tier 0 pruning never drops your codebase.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79008"/>
            <a:ext cx="11094415" cy="53035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779008"/>
            <a:ext cx="73152" cy="5303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" y="5852160"/>
            <a:ext cx="106372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sz="1080" b="0">
                <a:solidFill>
                  <a:srgbClr val="202124"/>
                </a:solidFill>
                <a:latin typeface="Roboto"/>
                <a:ea typeface="Noto Sans SC"/>
              </a:rPr>
              <a:t>Golden evaluation metrics rule: Pair --deep mode with semantic c3_hybrid_max context and expanded config.yaml.</a:t>
            </a:r>
          </a:p>
        </p:txBody>
      </p:sp>
      <p:sp>
        <p:nvSpPr>
          <p:cNvPr id="7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527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TIMEOUT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5272887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Avoid turn exhaustion &amp; literal filename traps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3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5376672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5376672" cy="6400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2066543"/>
            <a:ext cx="2967329" cy="256032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57400"/>
            <a:ext cx="296732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B06000"/>
                </a:solidFill>
                <a:latin typeface="Roboto"/>
                <a:ea typeface="Noto Sans SC"/>
              </a:rPr>
              <a:t>ANTI-PATTERN: LITERAL FILE 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32304"/>
            <a:ext cx="3337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02124"/>
                </a:solidFill>
                <a:latin typeface="Roboto"/>
                <a:ea typeface="Noto Sans SC"/>
              </a:rPr>
              <a:t>Turn limits &amp; literal -c trap</a:t>
            </a:r>
          </a:p>
        </p:txBody>
      </p:sp>
      <p:pic>
        <p:nvPicPr>
          <p:cNvPr id="17" name="Picture 16" descr="scrub:native=806x806;crop=0.000,0.000;out=580x580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029968"/>
            <a:ext cx="1325880" cy="1325880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777240" y="3456432"/>
            <a:ext cx="4919472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3584448"/>
            <a:ext cx="4919472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1080" b="0">
                <a:solidFill>
                  <a:srgbClr val="5F6368"/>
                </a:solidFill>
                <a:latin typeface="Roboto"/>
                <a:ea typeface="Noto Sans SC"/>
              </a:rPr>
              <a:t>• Quick mode caps out at 16⁠–⁠24 JS and 10⁠–⁠13 Java findings</a:t>
            </a:r>
          </a:p>
          <a:p>
            <a:pPr algn="l">
              <a:lnSpc>
                <a:spcPts val="1458"/>
              </a:lnSpc>
            </a:pPr>
            <a:r>
              <a:rPr sz="1080" b="0">
                <a:solidFill>
                  <a:srgbClr val="5F6368"/>
                </a:solidFill>
                <a:latin typeface="Roboto"/>
                <a:ea typeface="Noto Sans SC"/>
              </a:rPr>
              <a:t>• Writing literal requirements.txt in --deep -c yields 0 bugs (py_13)</a:t>
            </a:r>
          </a:p>
          <a:p>
            <a:pPr algn="l">
              <a:lnSpc>
                <a:spcPts val="1458"/>
              </a:lnSpc>
            </a:pPr>
            <a:r>
              <a:rPr sz="1080" b="0">
                <a:solidFill>
                  <a:srgbClr val="5F6368"/>
                </a:solidFill>
                <a:latin typeface="Roboto"/>
                <a:ea typeface="Noto Sans SC"/>
              </a:rPr>
              <a:t>• Default config.yaml ignores *.xml, *.yml, and *.pug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74519"/>
            <a:ext cx="5379415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874519"/>
            <a:ext cx="5379415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2066543"/>
            <a:ext cx="2852470" cy="25603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057400"/>
            <a:ext cx="285247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37333"/>
                </a:solidFill>
                <a:latin typeface="Roboto"/>
                <a:ea typeface="Noto Sans SC"/>
              </a:rPr>
              <a:t>BEST PRACTICE: SEMANTIC --DEEP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32304"/>
            <a:ext cx="3337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02124"/>
                </a:solidFill>
                <a:latin typeface="Roboto"/>
                <a:ea typeface="Noto Sans SC"/>
              </a:rPr>
              <a:t>Semantic context + 16 workers</a:t>
            </a:r>
          </a:p>
        </p:txBody>
      </p:sp>
      <p:pic>
        <p:nvPicPr>
          <p:cNvPr id="25" name="Picture 24" descr="scrub:native=842x842;crop=0.000,0.000;out=580x580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029968"/>
            <a:ext cx="1325880" cy="1325880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6492240" y="3456432"/>
            <a:ext cx="4919472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92240" y="3584448"/>
            <a:ext cx="4919472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8"/>
              </a:lnSpc>
            </a:pPr>
            <a:r>
              <a:rPr sz="1080" b="0">
                <a:solidFill>
                  <a:srgbClr val="202124"/>
                </a:solidFill>
                <a:latin typeface="Roboto"/>
                <a:ea typeface="Noto Sans SC"/>
              </a:rPr>
              <a:t>• Use semantic manifest descriptions in -c (0 literal file.ext)</a:t>
            </a:r>
          </a:p>
          <a:p>
            <a:pPr algn="l">
              <a:lnSpc>
                <a:spcPts val="1458"/>
              </a:lnSpc>
            </a:pPr>
            <a:r>
              <a:rPr sz="1080" b="0">
                <a:solidFill>
                  <a:srgbClr val="202124"/>
                </a:solidFill>
                <a:latin typeface="Roboto"/>
                <a:ea typeface="Noto Sans SC"/>
              </a:rPr>
              <a:t>• Reaches 100% (11/11) Python GT recall in 76.3s (py_12)</a:t>
            </a:r>
          </a:p>
          <a:p>
            <a:pPr algn="l">
              <a:lnSpc>
                <a:spcPts val="1458"/>
              </a:lnSpc>
            </a:pPr>
            <a:r>
              <a:rPr sz="1080" b="0">
                <a:solidFill>
                  <a:srgbClr val="202124"/>
                </a:solidFill>
                <a:latin typeface="Roboto"/>
                <a:ea typeface="Noto Sans SC"/>
              </a:rPr>
              <a:t>• Unlocks 118 Node.js bugs (4.9x) and 90 Java bugs (9.0x)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97296"/>
            <a:ext cx="11094415" cy="53035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797296"/>
            <a:ext cx="73152" cy="5303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870448"/>
            <a:ext cx="106372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sz="1080" b="0">
                <a:solidFill>
                  <a:srgbClr val="202124"/>
                </a:solidFill>
                <a:latin typeface="Roboto"/>
                <a:ea typeface="Noto Sans SC"/>
              </a:rPr>
              <a:t>Why literal filenames break --deep: Regex scoping + Tier 0 lockfile pruning drops app.py (0% vs 100% recall).</a:t>
            </a:r>
          </a:p>
        </p:txBody>
      </p: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527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TAINT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5272887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Enabling --deep unlocks multi-file taint tracking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4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5257800" cy="4434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ub:native=2752x1536;crop=0.001,0.000;out=2180x1220;enc=jpeg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11680"/>
            <a:ext cx="4983480" cy="2788920"/>
          </a:xfrm>
          <a:prstGeom prst="rect">
            <a:avLst/>
          </a:prstGeom>
        </p:spPr>
      </p:pic>
      <p:pic>
        <p:nvPicPr>
          <p:cNvPr id="14" name="Picture 13" descr="scrub:native=930x930;crop=0.000,0.000;out=460x460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56048"/>
            <a:ext cx="10515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4983480"/>
            <a:ext cx="3703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202124"/>
                </a:solidFill>
                <a:latin typeface="Roboto"/>
                <a:ea typeface="Noto Sans SC"/>
              </a:rPr>
              <a:t>Cross-file sink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358384"/>
            <a:ext cx="3703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1019" b="0">
                <a:solidFill>
                  <a:srgbClr val="5F6368"/>
                </a:solidFill>
                <a:latin typeface="Roboto"/>
                <a:ea typeface="Noto Sans SC"/>
              </a:rPr>
              <a:t>Traces untrusted HTTP inputs across Python, TypeScript, and Java files to sinks.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874519"/>
            <a:ext cx="5608015" cy="135331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874519"/>
            <a:ext cx="82296" cy="135331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039112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Stage 1 — Route &amp; entry enumeration (PROJECT_FILE_INDEX.md)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59736"/>
            <a:ext cx="5212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23"/>
              </a:lnSpc>
            </a:pPr>
            <a:r>
              <a:rPr sz="1050" b="0">
                <a:solidFill>
                  <a:srgbClr val="5F6368"/>
                </a:solidFill>
                <a:latin typeface="Roboto"/>
                <a:ea typeface="Noto Sans SC"/>
              </a:rPr>
              <a:t>Maps Python WSGI rules, Express routes, and Spring @RequestMapping controllers.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383279"/>
            <a:ext cx="5608015" cy="135331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383279"/>
            <a:ext cx="82296" cy="1353312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547872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Stage 2 — Cross-file taint pipeline (16 parallel workers)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968496"/>
            <a:ext cx="5212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23"/>
              </a:lnSpc>
            </a:pPr>
            <a:r>
              <a:rPr sz="1050" b="0">
                <a:solidFill>
                  <a:srgbClr val="5F6368"/>
                </a:solidFill>
                <a:latin typeface="Roboto"/>
                <a:ea typeface="Noto Sans SC"/>
              </a:rPr>
              <a:t>Follows tainted parameters through auth filters, services, and MyBatis XML mappers.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892040"/>
            <a:ext cx="5608015" cy="135331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4892040"/>
            <a:ext cx="82296" cy="135331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056631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Stage 3 — Sink &amp; safe wrapper check (0% false positives)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477255"/>
            <a:ext cx="521208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23"/>
              </a:lnSpc>
            </a:pPr>
            <a:r>
              <a:rPr sz="1050" b="0">
                <a:solidFill>
                  <a:srgbClr val="5F6368"/>
                </a:solidFill>
                <a:latin typeface="Roboto"/>
                <a:ea typeface="Noto Sans SC"/>
              </a:rPr>
              <a:t>Verifies SQL/NoSQL parameterization and safe_join confinement without false alarms.</a:t>
            </a:r>
          </a:p>
        </p:txBody>
      </p: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486649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REASONING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4866497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Tri-language model comparison across 43 runs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5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4069080" cy="4434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ub:native=2400x1792;crop=0.000,0.001;out=1636x1220;enc=jpeg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011680"/>
            <a:ext cx="3739896" cy="2788920"/>
          </a:xfrm>
          <a:prstGeom prst="rect">
            <a:avLst/>
          </a:prstGeom>
        </p:spPr>
      </p:pic>
      <p:pic>
        <p:nvPicPr>
          <p:cNvPr id="14" name="Picture 13" descr="scrub:native=789x789;crop=0.000,0.000;out=460x460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19472"/>
            <a:ext cx="10515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495604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Frontier reasoning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5321808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Gemini 3.8 Flash leads Node.js (118 bugs); 4 Argon leads Java (90 bugs) and zero-shot Python (90.9%).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828032" y="1874519"/>
            <a:ext cx="6812280" cy="3154681"/>
            <a:chOff x="4828032" y="1874519"/>
            <a:chExt cx="6812280" cy="3154681"/>
          </a:xfrm>
        </p:grpSpPr>
        <p:sp>
          <p:nvSpPr>
            <p:cNvPr id="18" name="Rectangle 17"/>
            <p:cNvSpPr/>
            <p:nvPr/>
          </p:nvSpPr>
          <p:spPr>
            <a:xfrm>
              <a:off x="4828032" y="1874519"/>
              <a:ext cx="6812280" cy="411480"/>
            </a:xfrm>
            <a:prstGeom prst="rect">
              <a:avLst/>
            </a:prstGeom>
            <a:solidFill>
              <a:srgbClr val="D2E3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828032" y="2679192"/>
              <a:ext cx="6812280" cy="393192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28032" y="3465576"/>
              <a:ext cx="6812280" cy="393192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828032" y="4151376"/>
              <a:ext cx="6812280" cy="29260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828032" y="4736592"/>
              <a:ext cx="6812280" cy="29260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828032" y="2273198"/>
              <a:ext cx="6812280" cy="18288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19472" y="1874519"/>
              <a:ext cx="1645920" cy="4114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1">
                  <a:solidFill>
                    <a:srgbClr val="202124"/>
                  </a:solidFill>
                  <a:latin typeface="Roboto"/>
                  <a:ea typeface="Noto Sans SC"/>
                </a:rPr>
                <a:t>Model &amp; Mode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48272" y="1874519"/>
              <a:ext cx="1554480" cy="4114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1">
                  <a:solidFill>
                    <a:srgbClr val="202124"/>
                  </a:solidFill>
                  <a:latin typeface="Roboto"/>
                  <a:ea typeface="Noto Sans SC"/>
                </a:rPr>
                <a:t>Target ecosystem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485632" y="1874519"/>
              <a:ext cx="457200" cy="4114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1">
                  <a:solidFill>
                    <a:srgbClr val="202124"/>
                  </a:solidFill>
                  <a:latin typeface="Roboto"/>
                  <a:ea typeface="Noto Sans SC"/>
                </a:rPr>
                <a:t>Bugs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125712" y="1874519"/>
              <a:ext cx="685800" cy="4114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1">
                  <a:solidFill>
                    <a:srgbClr val="202124"/>
                  </a:solidFill>
                  <a:latin typeface="Roboto"/>
                  <a:ea typeface="Noto Sans SC"/>
                </a:rPr>
                <a:t>Crit / High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994392" y="1874519"/>
              <a:ext cx="868680" cy="4114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1">
                  <a:solidFill>
                    <a:srgbClr val="202124"/>
                  </a:solidFill>
                  <a:latin typeface="Roboto"/>
                  <a:ea typeface="Noto Sans SC"/>
                </a:rPr>
                <a:t>Recall / CWE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5952" y="1874519"/>
              <a:ext cx="502920" cy="4114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1">
                  <a:solidFill>
                    <a:srgbClr val="202124"/>
                  </a:solidFill>
                  <a:latin typeface="Roboto"/>
                  <a:ea typeface="Noto Sans SC"/>
                </a:rPr>
                <a:t>Sec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19472" y="2286000"/>
              <a:ext cx="164592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3.8 Flash (Quick c3)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748272" y="2286000"/>
              <a:ext cx="155448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Python WSGI (2f)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485632" y="2286000"/>
              <a:ext cx="45720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125712" y="2286000"/>
              <a:ext cx="68580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4 / 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994392" y="2286000"/>
              <a:ext cx="86868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100% (11/11)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045952" y="2286000"/>
              <a:ext cx="50292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231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919472" y="2679192"/>
              <a:ext cx="164592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4 Argon (--deep c3)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748272" y="2679192"/>
              <a:ext cx="155448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Python WSGI (2f)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485632" y="2679192"/>
              <a:ext cx="45720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125712" y="2679192"/>
              <a:ext cx="68580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4 / 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994392" y="2679192"/>
              <a:ext cx="86868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100% (11/11)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45952" y="2679192"/>
              <a:ext cx="50292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76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919472" y="3072384"/>
              <a:ext cx="164592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4 Argon (Quick c0)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48272" y="3072384"/>
              <a:ext cx="155448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Python WSGI (2f)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485632" y="3072384"/>
              <a:ext cx="45720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125712" y="3072384"/>
              <a:ext cx="68580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 / 5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994392" y="3072384"/>
              <a:ext cx="86868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90.9% (10/11)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045952" y="3072384"/>
              <a:ext cx="50292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307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919472" y="3465576"/>
              <a:ext cx="164592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3.5 Flash (Quick c3)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748272" y="3465576"/>
              <a:ext cx="155448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Python WSGI (2f)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485632" y="3465576"/>
              <a:ext cx="45720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125712" y="3465576"/>
              <a:ext cx="68580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 / 5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994392" y="3465576"/>
              <a:ext cx="86868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100% (11/11)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045952" y="3465576"/>
              <a:ext cx="502920" cy="39319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203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919472" y="3858768"/>
              <a:ext cx="1645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3.8 Flash (--deep c3)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748272" y="3858768"/>
              <a:ext cx="15544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Node.js bench (16f)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485632" y="3858768"/>
              <a:ext cx="4572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118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125712" y="3858768"/>
              <a:ext cx="6858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19 / 58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994392" y="3858768"/>
              <a:ext cx="8686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35 CWEs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1045952" y="3858768"/>
              <a:ext cx="502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224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919472" y="4151376"/>
              <a:ext cx="1645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3.8 Flash (--deep c3)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748272" y="4151376"/>
              <a:ext cx="15544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Node.js high (35f)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485632" y="4151376"/>
              <a:ext cx="4572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116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125712" y="4151376"/>
              <a:ext cx="6858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20 / 49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994392" y="4151376"/>
              <a:ext cx="8686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31 CWEs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045952" y="4151376"/>
              <a:ext cx="502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536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919472" y="4443984"/>
              <a:ext cx="1645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4 Argon (--deep c3)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6748272" y="4443984"/>
              <a:ext cx="15544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Java bench (20f)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485632" y="4443984"/>
              <a:ext cx="4572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90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125712" y="4443984"/>
              <a:ext cx="6858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8 / 36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994392" y="4443984"/>
              <a:ext cx="8686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29 CWEs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1045952" y="4443984"/>
              <a:ext cx="502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327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919472" y="4736592"/>
              <a:ext cx="1645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3.8 Flash (--deep c3)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748272" y="4736592"/>
              <a:ext cx="15544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Java bench (20f)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485632" y="4736592"/>
              <a:ext cx="4572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80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125712" y="4736592"/>
              <a:ext cx="6858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7 / 32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994392" y="4736592"/>
              <a:ext cx="8686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29 CWEs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1045952" y="4736592"/>
              <a:ext cx="502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16"/>
                </a:lnSpc>
              </a:pPr>
              <a:r>
                <a:rPr sz="930" b="0">
                  <a:solidFill>
                    <a:srgbClr val="202124"/>
                  </a:solidFill>
                  <a:latin typeface="Roboto"/>
                  <a:ea typeface="Noto Sans SC"/>
                </a:rPr>
                <a:t>253</a:t>
              </a:r>
            </a:p>
          </p:txBody>
        </p:sp>
      </p:grpSp>
      <p:sp>
        <p:nvSpPr>
          <p:cNvPr id="78" name="Rounded Rectangle 77"/>
          <p:cNvSpPr/>
          <p:nvPr/>
        </p:nvSpPr>
        <p:spPr>
          <a:xfrm>
            <a:off x="4828032" y="5797296"/>
            <a:ext cx="6812280" cy="53797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828032" y="5797296"/>
            <a:ext cx="73152" cy="53797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02352" y="5870448"/>
            <a:ext cx="6355080" cy="446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>
                <a:solidFill>
                  <a:srgbClr val="202124"/>
                </a:solidFill>
                <a:latin typeface="Roboto"/>
                <a:ea typeface="Noto Sans SC"/>
              </a:rPr>
              <a:t>Tri-language highlight: 100% (11/11) Python GT recall in 76s, 118 Node.js bugs, and 90 Java bugs.</a:t>
            </a:r>
          </a:p>
        </p:txBody>
      </p: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527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CONTEXT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5272887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Hybrid -c context unlocks 100% Python GT recall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6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2650159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2650159" cy="64008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ub:native=831x831;crop=0.000,0.000;out=488x488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2039112"/>
            <a:ext cx="1115568" cy="1115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4944" y="3246120"/>
            <a:ext cx="235755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02124"/>
                </a:solidFill>
                <a:latin typeface="Roboto"/>
                <a:ea typeface="Noto Sans SC"/>
              </a:rPr>
              <a:t>Zero context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66744"/>
            <a:ext cx="235755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85ABC"/>
                </a:solidFill>
                <a:latin typeface="Roboto"/>
                <a:ea typeface="Noto Sans SC"/>
              </a:rPr>
              <a:t>72.7% Py / 24 JS / 10 Java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4142231"/>
            <a:ext cx="2247823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" y="4270248"/>
            <a:ext cx="2357551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No -c flag; misses Werkzeug CVEs, Debugger PIN RCE, and Cookie flags.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3391" y="1874519"/>
            <a:ext cx="2650159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63391" y="1874519"/>
            <a:ext cx="2650159" cy="6400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crub:native=865x865;crop=0.000,0.000;out=488x488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199" y="2039112"/>
            <a:ext cx="1115568" cy="11155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09695" y="3246120"/>
            <a:ext cx="235755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02124"/>
                </a:solidFill>
                <a:latin typeface="Roboto"/>
                <a:ea typeface="Noto Sans SC"/>
              </a:rPr>
              <a:t>SCA dependency manifest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9695" y="3666744"/>
            <a:ext cx="235755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85ABC"/>
                </a:solidFill>
                <a:latin typeface="Roboto"/>
                <a:ea typeface="Noto Sans SC"/>
              </a:rPr>
              <a:t>100% Py / 25 JS / 13 Java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4559" y="4142231"/>
            <a:ext cx="2247824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09695" y="4270248"/>
            <a:ext cx="2357551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Supplies semantic manifest versions (Werkzeug 2.2.0, jsonwebtoken, MyBatis).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8143" y="1874519"/>
            <a:ext cx="2650159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8143" y="1874519"/>
            <a:ext cx="2650159" cy="64008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crub:native=999x999;crop=0.000,0.000;out=488x488;exif=0;origin=gen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951" y="2039112"/>
            <a:ext cx="1115568" cy="11155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24447" y="3246120"/>
            <a:ext cx="235755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02124"/>
                </a:solidFill>
                <a:latin typeface="Roboto"/>
                <a:ea typeface="Noto Sans SC"/>
              </a:rPr>
              <a:t>SAST framework topology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447" y="3666744"/>
            <a:ext cx="235755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85ABC"/>
                </a:solidFill>
                <a:latin typeface="Roboto"/>
                <a:ea typeface="Noto Sans SC"/>
              </a:rPr>
              <a:t>90.9% Py / 35 JS / 29 Java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79311" y="4142231"/>
            <a:ext cx="2247824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24447" y="4270248"/>
            <a:ext cx="2357551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Maps WSGI handlers, Express routes, Spring controllers, and XML mappers.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2895" y="1874519"/>
            <a:ext cx="2650159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92895" y="1874519"/>
            <a:ext cx="2650159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crub:native=828x828;crop=0.000,0.000;out=488x488;exif=0;origin=genim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2703" y="2039112"/>
            <a:ext cx="1115568" cy="11155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39199" y="3246120"/>
            <a:ext cx="235755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02124"/>
                </a:solidFill>
                <a:latin typeface="Roboto"/>
                <a:ea typeface="Noto Sans SC"/>
              </a:rPr>
              <a:t>Hybrid max context brief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9199" y="3666744"/>
            <a:ext cx="235755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37333"/>
                </a:solidFill>
                <a:latin typeface="Roboto"/>
                <a:ea typeface="Noto Sans SC"/>
              </a:rPr>
              <a:t>100% Py / 118 JS / 90 Java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94063" y="4142231"/>
            <a:ext cx="2247824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39199" y="4270248"/>
            <a:ext cx="2357551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Combines semantic SCA versions, SAST sinks, and safe_join control checks.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97296"/>
            <a:ext cx="11094415" cy="53035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797296"/>
            <a:ext cx="73152" cy="5303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" y="5870448"/>
            <a:ext cx="106372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sz="1080" b="0">
                <a:solidFill>
                  <a:srgbClr val="202124"/>
                </a:solidFill>
                <a:latin typeface="Roboto"/>
                <a:ea typeface="Noto Sans SC"/>
              </a:rPr>
              <a:t>Context blueprint rule: Use semantic manifest descriptions (zero literal file.ext) to preserve 100% recall in --deep.</a:t>
            </a:r>
          </a:p>
        </p:txBody>
      </p: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352033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ABLATION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3520331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Model, mode &amp; context compound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7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7178040" cy="3767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3" y="1883664"/>
            <a:ext cx="7059168" cy="27686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art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938528"/>
            <a:ext cx="6949440" cy="265891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779008"/>
            <a:ext cx="7178040" cy="53797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779008"/>
            <a:ext cx="73152" cy="53797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5852160"/>
            <a:ext cx="6720840" cy="4465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>
                <a:solidFill>
                  <a:srgbClr val="202124"/>
                </a:solidFill>
                <a:latin typeface="Roboto"/>
                <a:ea typeface="Noto Sans SC"/>
              </a:rPr>
              <a:t>43-run takeaway: Combining --deep + c3_hybrid_max hits 100% Python GT recall, 118 JS &amp; 90 Java bugs.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874519"/>
            <a:ext cx="3730752" cy="2139696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874519"/>
            <a:ext cx="73152" cy="213969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ub:native=842x842;crop=0.000,0.000;out=432x432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2029968"/>
            <a:ext cx="987552" cy="9875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62288" y="2029968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Compounding security gains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450592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Ablation growth across 43 runs: --deep gives 4.9x⁠–⁠9.0x lift while c3_hybrid_max hits 11/11 Python GT recall.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4169663"/>
            <a:ext cx="3730752" cy="2139696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09560" y="4169663"/>
            <a:ext cx="73152" cy="213969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crub:native=859x859;crop=0.000,0.000;out=432x432;exif=0;origin=gen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008" y="4325112"/>
            <a:ext cx="987552" cy="98755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62288" y="4325112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Zero false-positive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745736"/>
            <a:ext cx="2331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Across all 13 Python runs, 0 runs falsely flagged the safe_join (/files/secure-download) negative control.</a:t>
            </a:r>
          </a:p>
        </p:txBody>
      </p: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dh-header-kicker"/>
          <p:cNvSpPr txBox="1"/>
          <p:nvPr/>
        </p:nvSpPr>
        <p:spPr>
          <a:xfrm>
            <a:off x="502920" y="274320"/>
            <a:ext cx="527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285F4"/>
                </a:solidFill>
                <a:latin typeface="Roboto"/>
                <a:ea typeface="Noto Sans SC"/>
              </a:rPr>
              <a:t>DIRECTORY SCOPING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5272887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Match scan mode to repository scale</a:t>
            </a:r>
          </a:p>
        </p:txBody>
      </p:sp>
      <p:pic>
        <p:nvPicPr>
          <p:cNvPr id="5" name="Picture 4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6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8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3564026" cy="2240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3564026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ub:native=792x792;crop=0.000,0.000;out=392x392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039112"/>
            <a:ext cx="896112" cy="896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82495" y="2039112"/>
            <a:ext cx="23021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93"/>
              </a:lnSpc>
            </a:pPr>
            <a:r>
              <a:rPr sz="1180" b="1">
                <a:solidFill>
                  <a:srgbClr val="202124"/>
                </a:solidFill>
                <a:latin typeface="Roboto"/>
                <a:ea typeface="Noto Sans SC"/>
              </a:rPr>
              <a:t>Microservice scope (1⁠–⁠5 files)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495" y="2423160"/>
            <a:ext cx="230215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85ABC"/>
                </a:solidFill>
                <a:latin typeface="Roboto"/>
                <a:ea typeface="Noto Sans SC"/>
              </a:rPr>
              <a:t>Python WSGI · 1–3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5" y="2770632"/>
            <a:ext cx="230215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980" b="0">
                <a:solidFill>
                  <a:srgbClr val="5F6368"/>
                </a:solidFill>
                <a:latin typeface="Roboto"/>
                <a:ea typeface="Noto Sans SC"/>
              </a:rPr>
              <a:t>Use Quick + c3_hybrid_max or Argon --deep for 100% (11/11) GT recall &amp; full SCA.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834" y="1874519"/>
            <a:ext cx="3564026" cy="2240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3834" y="1874519"/>
            <a:ext cx="3564026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ub:native=952x952;crop=0.000,0.000;out=392x392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138" y="2039112"/>
            <a:ext cx="896112" cy="8961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47690" y="2039112"/>
            <a:ext cx="23021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593"/>
              </a:lnSpc>
            </a:pPr>
            <a:r>
              <a:rPr sz="1180" b="1">
                <a:solidFill>
                  <a:srgbClr val="202124"/>
                </a:solidFill>
                <a:latin typeface="Roboto"/>
                <a:ea typeface="Noto Sans SC"/>
              </a:rPr>
              <a:t>Curated service (15⁠–⁠50 files)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7690" y="2423160"/>
            <a:ext cx="230215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37333"/>
                </a:solidFill>
                <a:latin typeface="Roboto"/>
                <a:ea typeface="Noto Sans SC"/>
              </a:rPr>
              <a:t>Node.js / Java · 3–6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7690" y="2770632"/>
            <a:ext cx="230215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980" b="0">
                <a:solidFill>
                  <a:srgbClr val="5F6368"/>
                </a:solidFill>
                <a:latin typeface="Roboto"/>
                <a:ea typeface="Noto Sans SC"/>
              </a:rPr>
              <a:t>Optimal directory scoping with PROJECT_FILE_INDEX.md (118 JS / 90 Java bugs).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9028" y="1874519"/>
            <a:ext cx="3564026" cy="2240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9028" y="1874519"/>
            <a:ext cx="3564026" cy="54864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crub:native=1024x1024;crop=0.000,0.000;out=392x392;exif=0;origin=gen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332" y="2039112"/>
            <a:ext cx="896112" cy="8961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12884" y="2039112"/>
            <a:ext cx="230215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202124"/>
                </a:solidFill>
                <a:latin typeface="Roboto"/>
                <a:ea typeface="Noto Sans SC"/>
              </a:rPr>
              <a:t>Full core monolith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884" y="2423160"/>
            <a:ext cx="230215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5221F"/>
                </a:solidFill>
                <a:latin typeface="Roboto"/>
                <a:ea typeface="Noto Sans SC"/>
              </a:rPr>
              <a:t>120–300+ files · 10–15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2884" y="2770632"/>
            <a:ext cx="230215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15"/>
              </a:lnSpc>
            </a:pPr>
            <a:r>
              <a:rPr sz="980" b="0">
                <a:solidFill>
                  <a:srgbClr val="5F6368"/>
                </a:solidFill>
                <a:latin typeface="Roboto"/>
                <a:ea typeface="Noto Sans SC"/>
              </a:rPr>
              <a:t>Exclude generated ORM POJOs (mall-mbg) and frontend specs to avoid dilution.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48640" y="4279392"/>
            <a:ext cx="11094415" cy="1584960"/>
            <a:chOff x="548640" y="4279392"/>
            <a:chExt cx="11094415" cy="1584960"/>
          </a:xfrm>
        </p:grpSpPr>
        <p:sp>
          <p:nvSpPr>
            <p:cNvPr id="30" name="Rectangle 29"/>
            <p:cNvSpPr/>
            <p:nvPr/>
          </p:nvSpPr>
          <p:spPr>
            <a:xfrm>
              <a:off x="548640" y="4279392"/>
              <a:ext cx="11094415" cy="414528"/>
            </a:xfrm>
            <a:prstGeom prst="rect">
              <a:avLst/>
            </a:prstGeom>
            <a:solidFill>
              <a:srgbClr val="D2E3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48640" y="4986528"/>
              <a:ext cx="11094415" cy="29260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48640" y="5571744"/>
              <a:ext cx="11094415" cy="29260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48640" y="4681118"/>
              <a:ext cx="11094415" cy="18288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40080" y="4279392"/>
              <a:ext cx="1645920" cy="414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Scope profile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68880" y="4279392"/>
              <a:ext cx="914400" cy="414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Files scanned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566160" y="4279392"/>
              <a:ext cx="2103120" cy="414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Recommended mode &amp; model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852159" y="4279392"/>
              <a:ext cx="1920239" cy="414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Peak findings / Recall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55279" y="4279392"/>
              <a:ext cx="1097280" cy="414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Wall time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235440" y="4279392"/>
              <a:ext cx="2316175" cy="414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Primary CI/CD use case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40080" y="4693920"/>
              <a:ext cx="1645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Python WSGI micro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468880" y="4693920"/>
              <a:ext cx="9144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2 files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566160" y="4693920"/>
              <a:ext cx="21031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Quick or Argon --deep + c3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52159" y="4693920"/>
              <a:ext cx="1920239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13 bugs (100% 11/11 GT)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955279" y="4693920"/>
              <a:ext cx="10972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76s–231s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235440" y="4693920"/>
              <a:ext cx="2316175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Microservice &amp; PR gate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40080" y="4986528"/>
              <a:ext cx="1645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Node.js bench scope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468880" y="4986528"/>
              <a:ext cx="9144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16 files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566160" y="4986528"/>
              <a:ext cx="21031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3.8 Flash (--deep w=16 t=8)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52159" y="4986528"/>
              <a:ext cx="1920239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118 bugs (19 Crit / 58 High)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55279" y="4986528"/>
              <a:ext cx="10972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223.7s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235440" y="4986528"/>
              <a:ext cx="2316175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Service-level security gate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40080" y="5279136"/>
              <a:ext cx="1645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Java bench scope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468880" y="5279136"/>
              <a:ext cx="9144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20 files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566160" y="5279136"/>
              <a:ext cx="21031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4 Argon (--deep w=16 t=8)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852159" y="5279136"/>
              <a:ext cx="1920239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90 bugs (8 Crit / 36 High)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955279" y="5279136"/>
              <a:ext cx="10972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326.8s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235440" y="5279136"/>
              <a:ext cx="2316175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Multi-module release gate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40080" y="5571744"/>
              <a:ext cx="16459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High-risk scale-out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468880" y="5571744"/>
              <a:ext cx="9144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35–48 files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566160" y="5571744"/>
              <a:ext cx="210312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3.8 Flash (--deep w=16 t=8)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852159" y="5571744"/>
              <a:ext cx="1920239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116 JS / 59 Java bugs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955279" y="5571744"/>
              <a:ext cx="10972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536s–672s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235440" y="5571744"/>
              <a:ext cx="2316175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Nightly full-surface audit</a:t>
              </a:r>
            </a:p>
          </p:txBody>
        </p:sp>
      </p:grpSp>
      <p:sp>
        <p:nvSpPr>
          <p:cNvPr id="7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47395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TYPESCRIPT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473950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Express best practices capture 118 findings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9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4800600" cy="4434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ub:native=2752x1536;crop=0.009,0.000;out=1972x1120;enc=jpeg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011680"/>
            <a:ext cx="4507992" cy="2560320"/>
          </a:xfrm>
          <a:prstGeom prst="rect">
            <a:avLst/>
          </a:prstGeom>
        </p:spPr>
      </p:pic>
      <p:pic>
        <p:nvPicPr>
          <p:cNvPr id="14" name="Picture 13" descr="scrub:native=1014x1014;crop=0.000,0.000;out=472x472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709160"/>
            <a:ext cx="1078992" cy="1078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01952" y="473659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Express route tainting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952" y="5102352"/>
            <a:ext cx="32918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Target typescript routes/.ts, lib/insecurity.ts, and views/.pug while excluding UI bundles.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532120" y="1874519"/>
            <a:ext cx="6110935" cy="3611880"/>
            <a:chOff x="5532120" y="1874519"/>
            <a:chExt cx="6110935" cy="3611880"/>
          </a:xfrm>
        </p:grpSpPr>
        <p:sp>
          <p:nvSpPr>
            <p:cNvPr id="18" name="Rectangle 17"/>
            <p:cNvSpPr/>
            <p:nvPr/>
          </p:nvSpPr>
          <p:spPr>
            <a:xfrm>
              <a:off x="5532120" y="1874519"/>
              <a:ext cx="6110935" cy="417576"/>
            </a:xfrm>
            <a:prstGeom prst="rect">
              <a:avLst/>
            </a:prstGeom>
            <a:solidFill>
              <a:srgbClr val="D2E3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532120" y="2691383"/>
              <a:ext cx="6110935" cy="39928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532120" y="3489959"/>
              <a:ext cx="6110935" cy="39928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32120" y="4288536"/>
              <a:ext cx="6110935" cy="39928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532120" y="5087111"/>
              <a:ext cx="6110935" cy="39928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532120" y="2279294"/>
              <a:ext cx="6110935" cy="18288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623559" y="1874519"/>
              <a:ext cx="1874519" cy="4175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1">
                  <a:solidFill>
                    <a:srgbClr val="202124"/>
                  </a:solidFill>
                  <a:latin typeface="Roboto"/>
                  <a:ea typeface="Noto Sans SC"/>
                </a:rPr>
                <a:t>Vulnerability class (CWE)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680960" y="1874519"/>
              <a:ext cx="457199" cy="4175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1">
                  <a:solidFill>
                    <a:srgbClr val="202124"/>
                  </a:solidFill>
                  <a:latin typeface="Roboto"/>
                  <a:ea typeface="Noto Sans SC"/>
                </a:rPr>
                <a:t>Bugs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321040" y="1874519"/>
              <a:ext cx="3230575" cy="4175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1">
                  <a:solidFill>
                    <a:srgbClr val="202124"/>
                  </a:solidFill>
                  <a:latin typeface="Roboto"/>
                  <a:ea typeface="Noto Sans SC"/>
                </a:rPr>
                <a:t>Representative files &amp; sinks discovered (Benchmark)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623559" y="2292095"/>
              <a:ext cx="187451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CWE⁠-⁠94 / 1336 Code &amp; SSTI RCE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680960" y="2292095"/>
              <a:ext cx="45719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14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21040" y="2292095"/>
              <a:ext cx="3230575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views/promotionVideo.pug (Pug SSTI), b2bOrder.ts (vm)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23559" y="2691383"/>
              <a:ext cx="187451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CWE-89 SQL Injection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680960" y="2691383"/>
              <a:ext cx="45719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8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21040" y="2691383"/>
              <a:ext cx="3230575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routes/search.ts, login.ts (Sequelize raw interpolation)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23559" y="3090671"/>
              <a:ext cx="187451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CWE-943 NoSQL Injection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80960" y="3090671"/>
              <a:ext cx="45719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9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21040" y="3090671"/>
              <a:ext cx="3230575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routes/showProductReviews.ts, trackOrder.ts (MarsDB)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623559" y="3489959"/>
              <a:ext cx="187451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CWE⁠-⁠918 Server-Side Request Forgery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680960" y="3489959"/>
              <a:ext cx="45719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321040" y="3489959"/>
              <a:ext cx="3230575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routes/profileImageUrlUpload.ts (unvalidated HTTP fetch)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23559" y="3889247"/>
              <a:ext cx="187451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CWE⁠-⁠22 / 611 Path Traversal &amp; XXE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680960" y="3889247"/>
              <a:ext cx="45719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12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321040" y="3889247"/>
              <a:ext cx="3230575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routes/fileUpload.ts (unzipper Zip Slip &amp; libxmljs XXE)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623559" y="4288536"/>
              <a:ext cx="187451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CWE⁠-⁠347 / 327 JWT &amp; Crypto Flaws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680960" y="4288536"/>
              <a:ext cx="45719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15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321040" y="4288536"/>
              <a:ext cx="3230575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lib/insecurity.ts (RS256-&gt;HS256 confusion, MD5, keys)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623559" y="4687823"/>
              <a:ext cx="187451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CWE⁠-⁠639 / 862 Broken Access Control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680960" y="4687823"/>
              <a:ext cx="45719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21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321040" y="4687823"/>
              <a:ext cx="3230575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routes/basket.ts (IDOR), dataErasure.ts, updateProductReviews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23559" y="5087111"/>
              <a:ext cx="187451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CWE⁠-⁠79 / 601 XSS &amp; Open Redirect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680960" y="5087111"/>
              <a:ext cx="457199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r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16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321040" y="5087111"/>
              <a:ext cx="3230575" cy="399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40"/>
                </a:lnSpc>
              </a:pPr>
              <a:r>
                <a:rPr sz="950" b="0">
                  <a:solidFill>
                    <a:srgbClr val="202124"/>
                  </a:solidFill>
                  <a:latin typeface="Roboto"/>
                  <a:ea typeface="Noto Sans SC"/>
                </a:rPr>
                <a:t>routes/redirect.ts, userProfile.ts (reflected XSS)</a:t>
              </a:r>
            </a:p>
          </p:txBody>
        </p:sp>
      </p:grp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52728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MYBATIS MAPPERS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5272887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Spring Boot &amp; MyBatis rules uncover 90 findings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10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3564026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3564026" cy="6400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ub:native=779x779;crop=0.000,0.000;out=500x500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" y="2075688"/>
            <a:ext cx="1143000" cy="1143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3355848"/>
            <a:ext cx="319826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MyBatis XML SQL injection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867912"/>
            <a:ext cx="3106826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995927"/>
            <a:ext cx="319826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6"/>
              </a:lnSpc>
            </a:pPr>
            <a:r>
              <a:rPr sz="1019" b="0">
                <a:solidFill>
                  <a:srgbClr val="5F6368"/>
                </a:solidFill>
                <a:latin typeface="Roboto"/>
                <a:ea typeface="Noto Sans SC"/>
              </a:rPr>
              <a:t>Add .xml to config.yaml and scan resources/dao/*.xml to catch ${} SQLi in OmsOrderDao.xml (8 Critical).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834" y="1874519"/>
            <a:ext cx="3564026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3834" y="1874519"/>
            <a:ext cx="3564026" cy="6400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ub:native=890x890;crop=0.000,0.000;out=500x500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842" y="2075688"/>
            <a:ext cx="1143000" cy="1143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96714" y="3355848"/>
            <a:ext cx="319826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Missing endpoint authorization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42434" y="3867912"/>
            <a:ext cx="3106826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96714" y="3995927"/>
            <a:ext cx="319826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6"/>
              </a:lnSpc>
            </a:pPr>
            <a:r>
              <a:rPr sz="1019" b="0">
                <a:solidFill>
                  <a:srgbClr val="5F6368"/>
                </a:solidFill>
                <a:latin typeface="Roboto"/>
                <a:ea typeface="Noto Sans SC"/>
              </a:rPr>
              <a:t>Pair portal controllers with SecurityConfig to expose unauthenticated admin routes and order IDOR (36 High).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9028" y="1874519"/>
            <a:ext cx="3564026" cy="3749039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79028" y="1874519"/>
            <a:ext cx="3564026" cy="640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crub:native=856x856;crop=0.000,0.000;out=500x500;exif=0;origin=gen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036" y="2075688"/>
            <a:ext cx="1143000" cy="1143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61908" y="3355848"/>
            <a:ext cx="319826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Config secrets &amp; OSS uploads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07628" y="3867912"/>
            <a:ext cx="3106827" cy="0"/>
          </a:xfrm>
          <a:prstGeom prst="line">
            <a:avLst/>
          </a:prstGeom>
          <a:ln w="12700">
            <a:solidFill>
              <a:srgbClr val="DAD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61908" y="3995927"/>
            <a:ext cx="3198266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306"/>
              </a:lnSpc>
            </a:pPr>
            <a:r>
              <a:rPr sz="1019" b="0">
                <a:solidFill>
                  <a:srgbClr val="5F6368"/>
                </a:solidFill>
                <a:latin typeface="Roboto"/>
                <a:ea typeface="Noto Sans SC"/>
              </a:rPr>
              <a:t>Add .yml to config.yaml to audit JWT secrets in application.yml, MinioController XSS, and Alipay callbacks.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97296"/>
            <a:ext cx="11094415" cy="530352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797296"/>
            <a:ext cx="73152" cy="5303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870448"/>
            <a:ext cx="10637215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96"/>
              </a:lnSpc>
            </a:pPr>
            <a:r>
              <a:rPr sz="1080" b="0">
                <a:solidFill>
                  <a:srgbClr val="202124"/>
                </a:solidFill>
                <a:latin typeface="Roboto"/>
                <a:ea typeface="Noto Sans SC"/>
              </a:rPr>
              <a:t>Java golden scope rule: Exclude mall-mbg POJOs, add .xml/.yml to config.yaml, and generate PROJECT_FILE_INDEX.md.</a:t>
            </a:r>
          </a:p>
        </p:txBody>
      </p: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456170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PIPELINE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4561705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Standardize PR gates and nightly deep audits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11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6537960" cy="4434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6537960" cy="6400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29968"/>
            <a:ext cx="6080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2124"/>
                </a:solidFill>
                <a:latin typeface="Roboto"/>
                <a:ea typeface="Noto Sans SC"/>
              </a:rPr>
              <a:t>Production CLI profile (pipeline.py wrapper)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87168"/>
            <a:ext cx="6080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15184"/>
            <a:ext cx="5715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124"/>
                </a:solidFill>
                <a:latin typeface="Roboto"/>
                <a:ea typeface="Noto Sans SC"/>
              </a:rPr>
              <a:t>1. Configure CM_HOME/config.yaml &amp; PROJECT_FILE_INDEX.md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980944"/>
            <a:ext cx="5715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85ABC"/>
                </a:solidFill>
                <a:latin typeface="Roboto"/>
                <a:ea typeface="Noto Sans SC"/>
              </a:rPr>
              <a:t>include: [.py, .txt, .js, .ts, .java, .json, .xml, .yml, .pug, .hbs]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94176"/>
            <a:ext cx="6080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22191"/>
            <a:ext cx="5715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124"/>
                </a:solidFill>
                <a:latin typeface="Roboto"/>
                <a:ea typeface="Noto Sans SC"/>
              </a:rPr>
              <a:t>2. Build semantic hybrid context (-c with 0 literal file.ext)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87952"/>
            <a:ext cx="5715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37333"/>
                </a:solidFill>
                <a:latin typeface="Roboto"/>
                <a:ea typeface="Noto Sans SC"/>
              </a:rPr>
              <a:t>export CM_CTX="Read file index; correlate manifest CVEs + SAST sinks."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01184"/>
            <a:ext cx="6080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5715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124"/>
                </a:solidFill>
                <a:latin typeface="Roboto"/>
                <a:ea typeface="Noto Sans SC"/>
              </a:rPr>
              <a:t>3. Execute parallel deep scan (native tools, no --enable-bash)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94960"/>
            <a:ext cx="57150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5221F"/>
                </a:solidFill>
                <a:latin typeface="Roboto"/>
                <a:ea typeface="Noto Sans SC"/>
              </a:rPr>
              <a:t>cm -y --sandbox=false find . --deep --deep-workers 16 --deep-max-turns 8 -c "$CM_CTX"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74519"/>
            <a:ext cx="4346143" cy="2139696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874519"/>
            <a:ext cx="73152" cy="2139696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crub:native=782x782;crop=0.000,0.000;out=432x432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029968"/>
            <a:ext cx="987552" cy="9875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49640" y="2029968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Automated CI/CD security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450592"/>
            <a:ext cx="294436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Pipeline automation: keep --enable-bash off for 1.87x faster parallel worker completion.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4169663"/>
            <a:ext cx="4346143" cy="2139696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4169663"/>
            <a:ext cx="73152" cy="213969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crub:native=792x792;crop=0.000,0.000;out=432x432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4325112"/>
            <a:ext cx="987552" cy="98755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4325112"/>
            <a:ext cx="294436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Roboto"/>
                <a:ea typeface="Noto Sans SC"/>
              </a:rPr>
              <a:t>SQLite &amp; JSON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745736"/>
            <a:ext cx="294436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5F6368"/>
                </a:solidFill>
                <a:latin typeface="Roboto"/>
                <a:ea typeface="Noto Sans SC"/>
              </a:rPr>
              <a:t>Export cm report -f json and state.db findings to block PR merges on Critical/High CWEs.</a:t>
            </a:r>
          </a:p>
        </p:txBody>
      </p: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ub:native=3168x451;crop=0.000,0.000;out=3165x451;enc=jpeg;exif=0;origin=gen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737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FFFFF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h-header-kicker"/>
          <p:cNvSpPr txBox="1"/>
          <p:nvPr/>
        </p:nvSpPr>
        <p:spPr>
          <a:xfrm>
            <a:off x="502920" y="274320"/>
            <a:ext cx="4282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5ABC"/>
                </a:solidFill>
                <a:latin typeface="Roboto"/>
                <a:ea typeface="Noto Sans SC"/>
              </a:rPr>
              <a:t>ROLLOUT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4282312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02124"/>
                </a:solidFill>
                <a:latin typeface="Roboto"/>
                <a:ea typeface="Noto Sans SC"/>
              </a:rPr>
              <a:t>Five rules unlock peak recall across 3 stacks</a:t>
            </a:r>
          </a:p>
        </p:txBody>
      </p:sp>
      <p:pic>
        <p:nvPicPr>
          <p:cNvPr id="6" name="Picture 5" descr="g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1067951" cy="164592"/>
          </a:xfrm>
          <a:prstGeom prst="rect">
            <a:avLst/>
          </a:prstGeom>
        </p:spPr>
      </p:pic>
      <p:sp>
        <p:nvSpPr>
          <p:cNvPr id="7" name="pageno"/>
          <p:cNvSpPr txBox="1"/>
          <p:nvPr/>
        </p:nvSpPr>
        <p:spPr>
          <a:xfrm>
            <a:off x="11018520" y="651967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F6368"/>
                </a:solidFill>
                <a:latin typeface="Roboto"/>
                <a:ea typeface="Noto Sans SC"/>
              </a:rPr>
              <a:t>12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3564026" cy="2148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74519"/>
            <a:ext cx="3564026" cy="54864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ub:native=888x888;crop=0.000,0.000;out=392x392;exif=0;origin=gen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039112"/>
            <a:ext cx="896112" cy="8961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82495" y="2039112"/>
            <a:ext cx="230215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02124"/>
                </a:solidFill>
                <a:latin typeface="Roboto"/>
                <a:ea typeface="Noto Sans SC"/>
              </a:rPr>
              <a:t>Match mode to repo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5" y="2478024"/>
            <a:ext cx="2302154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25"/>
              </a:lnSpc>
            </a:pPr>
            <a:r>
              <a:rPr sz="980" b="0">
                <a:solidFill>
                  <a:srgbClr val="5F6368"/>
                </a:solidFill>
                <a:latin typeface="Roboto"/>
                <a:ea typeface="Noto Sans SC"/>
              </a:rPr>
              <a:t>Use Quick+c3 on 1⁠–⁠5 file microservices (100% Py GT) and --deep on 10⁠–⁠300+ file repos.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834" y="1874519"/>
            <a:ext cx="3564026" cy="2148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3834" y="1874519"/>
            <a:ext cx="3564026" cy="54864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rub:native=840x840;crop=0.000,0.000;out=392x392;exif=0;origin=gen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138" y="2039112"/>
            <a:ext cx="896112" cy="8961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47690" y="2039112"/>
            <a:ext cx="230215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02124"/>
                </a:solidFill>
                <a:latin typeface="Roboto"/>
                <a:ea typeface="Noto Sans SC"/>
              </a:rPr>
              <a:t>Zero literal filenames in -c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7690" y="2478024"/>
            <a:ext cx="2302154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25"/>
              </a:lnSpc>
            </a:pPr>
            <a:r>
              <a:rPr sz="980" b="0">
                <a:solidFill>
                  <a:srgbClr val="5F6368"/>
                </a:solidFill>
                <a:latin typeface="Roboto"/>
                <a:ea typeface="Noto Sans SC"/>
              </a:rPr>
              <a:t>Use semantic manifest descriptions in --deep -c so Tier 0 pruning never drops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9028" y="1874519"/>
            <a:ext cx="3564026" cy="214884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9028" y="1874519"/>
            <a:ext cx="3564026" cy="54864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crub:native=815x815;crop=0.000,0.000;out=392x392;exif=0;origin=genim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332" y="2039112"/>
            <a:ext cx="896112" cy="8961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12884" y="2039112"/>
            <a:ext cx="230215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02124"/>
                </a:solidFill>
                <a:latin typeface="Roboto"/>
                <a:ea typeface="Noto Sans SC"/>
              </a:rPr>
              <a:t>Extend config.yaml &amp;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884" y="2478024"/>
            <a:ext cx="2302154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225"/>
              </a:lnSpc>
            </a:pPr>
            <a:r>
              <a:rPr sz="980" b="0">
                <a:solidFill>
                  <a:srgbClr val="5F6368"/>
                </a:solidFill>
                <a:latin typeface="Roboto"/>
                <a:ea typeface="Noto Sans SC"/>
              </a:rPr>
              <a:t>Add .xml, .yml, .json, .pug, .txt to config.yaml and generate PROJECT_FILE_INDEX.md.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48640" y="4206240"/>
            <a:ext cx="11094415" cy="1584960"/>
            <a:chOff x="548640" y="4206240"/>
            <a:chExt cx="11094415" cy="1584960"/>
          </a:xfrm>
        </p:grpSpPr>
        <p:sp>
          <p:nvSpPr>
            <p:cNvPr id="28" name="Rectangle 27"/>
            <p:cNvSpPr/>
            <p:nvPr/>
          </p:nvSpPr>
          <p:spPr>
            <a:xfrm>
              <a:off x="548640" y="4206240"/>
              <a:ext cx="11094415" cy="310896"/>
            </a:xfrm>
            <a:prstGeom prst="rect">
              <a:avLst/>
            </a:prstGeom>
            <a:solidFill>
              <a:srgbClr val="D2E3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8640" y="4809744"/>
              <a:ext cx="11094415" cy="396239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48640" y="5498592"/>
              <a:ext cx="11094415" cy="292608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48640" y="4504334"/>
              <a:ext cx="11094415" cy="18288"/>
            </a:xfrm>
            <a:prstGeom prst="rect">
              <a:avLst/>
            </a:prstGeom>
            <a:solidFill>
              <a:srgbClr val="DADC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0080" y="4206240"/>
              <a:ext cx="173736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Rollout dimension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60320" y="4206240"/>
              <a:ext cx="274320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Anti-pattern to avoid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86400" y="4206240"/>
              <a:ext cx="2926079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Recommended golden standard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595360" y="4206240"/>
              <a:ext cx="2956255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1">
                  <a:solidFill>
                    <a:srgbClr val="202124"/>
                  </a:solidFill>
                  <a:latin typeface="Roboto"/>
                  <a:ea typeface="Noto Sans SC"/>
                </a:rPr>
                <a:t>Verified 43-run impact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0080" y="4517136"/>
              <a:ext cx="173736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Prompt syntax (-c)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560320" y="4517136"/>
              <a:ext cx="27432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Literal file.ext in --deep -c (py_13: 0%)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486400" y="4517136"/>
              <a:ext cx="2926079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Semantic manifest description + versions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95360" y="4517136"/>
              <a:ext cx="2956255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0% -&gt; 100% (11/11) Python GT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40080" y="4809744"/>
              <a:ext cx="1737360" cy="39623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Analysis mode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560320" y="4809744"/>
              <a:ext cx="2743200" cy="39623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Quick mode on large multi-file repos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86400" y="4809744"/>
              <a:ext cx="2926079" cy="39623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--deep --deep-workers 16 --deep-max-turns 8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95360" y="4809744"/>
              <a:ext cx="2956255" cy="39623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4.92x JS (118) &amp; 9.0x Java (90)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0080" y="5205984"/>
              <a:ext cx="173736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Config &amp; extensions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560320" y="5205984"/>
              <a:ext cx="27432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Default config.yaml (misses XML/YAML)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486400" y="5205984"/>
              <a:ext cx="2926079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Add .xml, .yml, .json, .pug + FILE_INDEX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595360" y="5205984"/>
              <a:ext cx="2956255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Unlocks MyBatis SQLi &amp; SSTI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0080" y="5498592"/>
              <a:ext cx="173736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Precision control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60320" y="5498592"/>
              <a:ext cx="274320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Unbounded noisy prompts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486400" y="5498592"/>
              <a:ext cx="2926079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c3_hybrid_max + safe wrapper verification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595360" y="5498592"/>
              <a:ext cx="2956255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lnSpc>
                  <a:spcPts val="1128"/>
                </a:lnSpc>
              </a:pPr>
              <a:r>
                <a:rPr sz="940" b="0">
                  <a:solidFill>
                    <a:srgbClr val="202124"/>
                  </a:solidFill>
                  <a:latin typeface="Roboto"/>
                  <a:ea typeface="Noto Sans SC"/>
                </a:rPr>
                <a:t>100% recall with 0% FP (safe_join)</a:t>
              </a:r>
            </a:p>
          </p:txBody>
        </p:sp>
      </p:grpSp>
      <p:sp>
        <p:nvSpPr>
          <p:cNvPr id="8" name="sig-mark"/>
          <p:cNvSpPr/>
          <p:nvPr/>
        </p:nvSpPr>
        <p:spPr>
          <a:xfrm>
            <a:off x="1799471" y="6556248"/>
            <a:ext cx="91440" cy="914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ig-mark"/>
          <p:cNvSpPr/>
          <p:nvPr/>
        </p:nvSpPr>
        <p:spPr>
          <a:xfrm>
            <a:off x="1982351" y="6556248"/>
            <a:ext cx="91440" cy="914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ig-mark"/>
          <p:cNvSpPr/>
          <p:nvPr/>
        </p:nvSpPr>
        <p:spPr>
          <a:xfrm>
            <a:off x="2165231" y="6556248"/>
            <a:ext cx="91440" cy="914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ig-mark"/>
          <p:cNvSpPr/>
          <p:nvPr/>
        </p:nvSpPr>
        <p:spPr>
          <a:xfrm>
            <a:off x="2348111" y="6556248"/>
            <a:ext cx="91440" cy="914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CodeMender best practices</dc:title>
  <dc:subject/>
  <dc:creator>Google Cloud</dc:creator>
  <cp:keywords/>
  <dc:description>deck_helpers.save/1 pagenos=ok signatures=ok sweep=ok pages=12</dc:description>
  <cp:lastModifiedBy>Google Cloud</cp:lastModifiedBy>
  <cp:revision>1</cp:revision>
  <dcterms:created xsi:type="dcterms:W3CDTF">2026-10-15T06:44:55Z</dcterms:created>
  <dcterms:modified xsi:type="dcterms:W3CDTF">2026-10-15T06:44:55Z</dcterms:modified>
  <cp:category/>
</cp:coreProperties>
</file>