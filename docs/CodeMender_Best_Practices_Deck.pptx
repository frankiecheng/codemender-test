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presentation addresses the Xiaomi Security Team CodeMender evaluation (Round 1: 4.7% recall across 14 apps / 385 historical vulns; Round 2: 77.8% on Werkzeug 2.2.0 and 100% on Python WSGI; Round 3: 118 Node.js and 90 Java findings).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Round 1, pure detection across 14 apps (385 historical vulnerabilities, 60.5M input tokens on Gemini 3.5 Flash) achieved acceptable precision but 4.7% recall (18/385). Round 2 and Round 3 lift recall to 77.8%-100% and 4.9x-9.0x across Node.js and 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1's 4.7% recall (18/385) stemmed from single-agent turn exhaustion, Gemini 3.5 Flash limitations on non-SQLi flaws, and missing config.yaml extensions.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Round 2 on Werkzeug 2.2.0 (--deep + -c + gemini-3.8-flash), CodeMender recalled 7/12 entries (7/9 distinct mechanisms = 77.8%). Co-locating http.py with sansio/http.py and adding guard-bypass checks resolves #8 and #9-#12.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Directly validates the Key Ask for specialized models: Gemini 3.8 Flash Cyber achieves 100% (11/11) recall in 2m13s (45% faster than 3.8 Flash), while Gemini 4 Argon hits 100% in 76s (--deep) and 90 findings on 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Without -c context, all models stop at 8/11 (72.7%) on codemender-test (or 10/11 on Argon). Adding c3_hybrid_max unlocks CVE-2023-25577, CWE-489 Debugger PIN, and CWE-614 Cookie flags for 100% (11/11) recall.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panel tracks recall from Round 1 (4.7%, 18/385) to Round 2 Werkzeug (77.8%, 7/9) and Python WSGI GT (100%, 11/11). Right panel shows Node.js (24 -&gt; 118) and Java (10 -&gt; 90) deep scan scaling.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Maps the 14 scanning targets (C/C++ crypto/protocol stacks, Python/Java/Ruby/Node/PHP web frameworks, and CI/code-hosting/key-management ops platforms) to optimal CodeMender scope sizes.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Demonstrates multi-language expansion to Node.js/TypeScript on OWASP Juice Shop: 118 findings across 35 CWEs (up 4.92x from 24 in quick mode), going far beyond simple SQLi.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Round 1, config.yaml only included .java and omitted .xml and .yml. Adding .xml and .yml while excluding mall-mbg POJOs lifted Java findings from 10 to 90 (9.0x) on macrozheng/mall.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Directly upgrades the Round 1 ~/.codemender/config.yaml screenshot: add .xml, .yml, .json, .pug, .txt to extensions, raise max_file_size_kb to 1000, and run cm clean before each benchmark.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Summarizes the complete action plan for Xiaomi Security Team: (1) Priority model access for Gemini 3.8 Flash Cyber &amp; 4 Argon, (2) Multi-language deep-scan rollout across the 14 target apps against SAST baseline, and (3) Transition to cm verify and cm fix automated patching.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4.png"/><Relationship Id="rId4" Type="http://schemas.openxmlformats.org/officeDocument/2006/relationships/image" Target="../media/image12.jp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4.png"/><Relationship Id="rId4" Type="http://schemas.openxmlformats.org/officeDocument/2006/relationships/image" Target="../media/image15.jp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4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4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4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4.png"/><Relationship Id="rId4" Type="http://schemas.openxmlformats.org/officeDocument/2006/relationships/image" Target="../media/image31.jpg"/><Relationship Id="rId5" Type="http://schemas.openxmlformats.org/officeDocument/2006/relationships/image" Target="../media/image32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4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4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ub:native=2752x1536;crop=0.004,0.000;out=2731x1536;enc=jpeg;exif=0;origin=gen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1682877"/>
            <a:ext cx="5120485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285F4"/>
                </a:solidFill>
                <a:latin typeface="Roboto"/>
                <a:ea typeface="Noto Sans SC"/>
              </a:rPr>
              <a:t>SECURITY BENCHMARK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97405"/>
            <a:ext cx="5120485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202124"/>
                </a:solidFill>
                <a:latin typeface="Roboto"/>
                <a:ea typeface="Noto Sans SC"/>
              </a:rPr>
              <a:t>CodeMender deep-scan blueprint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462909"/>
            <a:ext cx="1051560" cy="50292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787521"/>
            <a:ext cx="5120485" cy="6560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2295"/>
              </a:lnSpc>
            </a:pPr>
            <a:r>
              <a:rPr sz="1700" b="0">
                <a:solidFill>
                  <a:srgbClr val="4A4E54"/>
                </a:solidFill>
                <a:latin typeface="Roboto"/>
                <a:ea typeface="Noto Sans SC"/>
              </a:rPr>
              <a:t>From 4.7% baseline recall to 100% GT coverage in Python, Node.js &amp; Java (Benchmark)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053328"/>
            <a:ext cx="512048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6368"/>
                </a:solidFill>
                <a:latin typeface="Roboto"/>
                <a:ea typeface="Noto Sans SC"/>
              </a:rPr>
              <a:t>Google Cloud · Enterprise Security Evaluation · CodeMender v0.14.0</a:t>
            </a:r>
          </a:p>
        </p:txBody>
      </p:sp>
      <p:pic>
        <p:nvPicPr>
          <p:cNvPr id="12" name="Picture 11" descr="scrub:native=764x764;crop=0.000,0.000;out=580x580;exif=0;origin=genim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4343400"/>
            <a:ext cx="1325880" cy="1325880"/>
          </a:xfrm>
          <a:prstGeom prst="rect">
            <a:avLst/>
          </a:prstGeom>
        </p:spPr>
      </p:pic>
      <p:sp>
        <p:nvSpPr>
          <p:cNvPr id="13" name="sig-mark"/>
          <p:cNvSpPr/>
          <p:nvPr/>
        </p:nvSpPr>
        <p:spPr>
          <a:xfrm>
            <a:off x="1801368" y="6556248"/>
            <a:ext cx="91440" cy="91440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ig-mark"/>
          <p:cNvSpPr/>
          <p:nvPr/>
        </p:nvSpPr>
        <p:spPr>
          <a:xfrm>
            <a:off x="1984248" y="6556248"/>
            <a:ext cx="91440" cy="91440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ig-mark"/>
          <p:cNvSpPr/>
          <p:nvPr/>
        </p:nvSpPr>
        <p:spPr>
          <a:xfrm>
            <a:off x="2167128" y="6556248"/>
            <a:ext cx="91440" cy="91440"/>
          </a:xfrm>
          <a:prstGeom prst="ellipse">
            <a:avLst/>
          </a:prstGeom>
          <a:solidFill>
            <a:srgbClr val="FBBC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ig-mark"/>
          <p:cNvSpPr/>
          <p:nvPr/>
        </p:nvSpPr>
        <p:spPr>
          <a:xfrm>
            <a:off x="2350008" y="6556248"/>
            <a:ext cx="91440" cy="91440"/>
          </a:xfrm>
          <a:prstGeom prst="ellipse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ub:native=3168x451;crop=0.000,0.000;out=3165x451;enc=jpeg;exif=0;origin=gen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737360"/>
          </a:xfrm>
          <a:prstGeom prst="rect">
            <a:avLst/>
          </a:prstGeom>
        </p:spPr>
      </p:pic>
      <p:sp>
        <p:nvSpPr>
          <p:cNvPr id="3" name="dh-header-kicker"/>
          <p:cNvSpPr txBox="1"/>
          <p:nvPr/>
        </p:nvSpPr>
        <p:spPr>
          <a:xfrm>
            <a:off x="502920" y="274320"/>
            <a:ext cx="542528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285F4"/>
                </a:solidFill>
                <a:latin typeface="Roboto"/>
                <a:ea typeface="Noto Sans SC"/>
              </a:rPr>
              <a:t>EVALUATION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5425283" cy="891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02124"/>
                </a:solidFill>
                <a:latin typeface="Roboto"/>
                <a:ea typeface="Noto Sans SC"/>
              </a:rPr>
              <a:t>Deep scan lifts recall from 4.7% to 100%</a:t>
            </a:r>
          </a:p>
        </p:txBody>
      </p:sp>
      <p:pic>
        <p:nvPicPr>
          <p:cNvPr id="5" name="Picture 4" descr="g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528816"/>
            <a:ext cx="1067951" cy="164592"/>
          </a:xfrm>
          <a:prstGeom prst="rect">
            <a:avLst/>
          </a:prstGeom>
        </p:spPr>
      </p:pic>
      <p:sp>
        <p:nvSpPr>
          <p:cNvPr id="6" name="pageno"/>
          <p:cNvSpPr txBox="1"/>
          <p:nvPr/>
        </p:nvSpPr>
        <p:spPr>
          <a:xfrm>
            <a:off x="11018520" y="651967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F6368"/>
                </a:solidFill>
                <a:latin typeface="Roboto"/>
                <a:ea typeface="Noto Sans SC"/>
              </a:rPr>
              <a:t>2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74519"/>
            <a:ext cx="2636443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011679"/>
            <a:ext cx="2270683" cy="445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200" b="1">
                <a:solidFill>
                  <a:srgbClr val="185ABC"/>
                </a:solidFill>
                <a:latin typeface="Roboto"/>
                <a:ea typeface="Noto Sans SC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84119"/>
            <a:ext cx="2270683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40"/>
              </a:lnSpc>
            </a:pPr>
            <a:r>
              <a:rPr sz="1200" b="1">
                <a:solidFill>
                  <a:srgbClr val="202124"/>
                </a:solidFill>
                <a:latin typeface="Roboto"/>
                <a:ea typeface="Noto Sans SC"/>
              </a:rPr>
              <a:t>Python GT 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40152"/>
            <a:ext cx="2270683" cy="350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1000" b="0">
                <a:solidFill>
                  <a:srgbClr val="5F6368"/>
                </a:solidFill>
                <a:latin typeface="Roboto"/>
                <a:ea typeface="Noto Sans SC"/>
              </a:rPr>
              <a:t>Up from 4.7% R1; 0% FP (Benchmark)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7963" y="1874519"/>
            <a:ext cx="2636443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0843" y="2011679"/>
            <a:ext cx="2270683" cy="445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200" b="1">
                <a:solidFill>
                  <a:srgbClr val="185ABC"/>
                </a:solidFill>
                <a:latin typeface="Roboto"/>
                <a:ea typeface="Noto Sans SC"/>
              </a:rPr>
              <a:t>77.8%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0843" y="2484119"/>
            <a:ext cx="2270683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40"/>
              </a:lnSpc>
            </a:pPr>
            <a:r>
              <a:rPr sz="1200" b="1">
                <a:solidFill>
                  <a:srgbClr val="202124"/>
                </a:solidFill>
                <a:latin typeface="Roboto"/>
                <a:ea typeface="Noto Sans SC"/>
              </a:rPr>
              <a:t>Werkzeug 2.2.0 CVE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843" y="2740152"/>
            <a:ext cx="2270683" cy="350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1000" b="0">
                <a:solidFill>
                  <a:srgbClr val="5F6368"/>
                </a:solidFill>
                <a:latin typeface="Roboto"/>
                <a:ea typeface="Noto Sans SC"/>
              </a:rPr>
              <a:t>7/9 mechanisms in R2 (Benchmark)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1874519"/>
            <a:ext cx="2636443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0167" y="2011679"/>
            <a:ext cx="2270683" cy="445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200" b="1">
                <a:solidFill>
                  <a:srgbClr val="137333"/>
                </a:solidFill>
                <a:latin typeface="Roboto"/>
                <a:ea typeface="Noto Sans SC"/>
              </a:rPr>
              <a:t>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2484119"/>
            <a:ext cx="2270683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40"/>
              </a:lnSpc>
            </a:pPr>
            <a:r>
              <a:rPr sz="1200" b="1">
                <a:solidFill>
                  <a:srgbClr val="202124"/>
                </a:solidFill>
                <a:latin typeface="Roboto"/>
                <a:ea typeface="Noto Sans SC"/>
              </a:rPr>
              <a:t>Node.js Juice Shop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740152"/>
            <a:ext cx="2270683" cy="350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1000" b="0">
                <a:solidFill>
                  <a:srgbClr val="5F6368"/>
                </a:solidFill>
                <a:latin typeface="Roboto"/>
                <a:ea typeface="Noto Sans SC"/>
              </a:rPr>
              <a:t>4.92x lift, 19 Crit / 58 High (Benchmark)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06611" y="1874519"/>
            <a:ext cx="2636443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491" y="2011679"/>
            <a:ext cx="2270683" cy="445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200" b="1">
                <a:solidFill>
                  <a:srgbClr val="C5221F"/>
                </a:solidFill>
                <a:latin typeface="Roboto"/>
                <a:ea typeface="Noto Sans SC"/>
              </a:rPr>
              <a:t>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491" y="2484119"/>
            <a:ext cx="2270683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40"/>
              </a:lnSpc>
            </a:pPr>
            <a:r>
              <a:rPr sz="1200" b="1">
                <a:solidFill>
                  <a:srgbClr val="202124"/>
                </a:solidFill>
                <a:latin typeface="Roboto"/>
                <a:ea typeface="Noto Sans SC"/>
              </a:rPr>
              <a:t>Java Spring Mall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491" y="2740152"/>
            <a:ext cx="2270683" cy="350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1000" b="0">
                <a:solidFill>
                  <a:srgbClr val="5F6368"/>
                </a:solidFill>
                <a:latin typeface="Roboto"/>
                <a:ea typeface="Noto Sans SC"/>
              </a:rPr>
              <a:t>9.0x lift, 8 Crit / 36 High (Benchmark)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493008"/>
            <a:ext cx="3564026" cy="210312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493008"/>
            <a:ext cx="3564026" cy="54864"/>
          </a:xfrm>
          <a:prstGeom prst="rect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crub:native=840x840;crop=0.000,0.000;out=400x400;exif=0;origin=genim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3694176"/>
            <a:ext cx="914400" cy="9144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19072" y="3694176"/>
            <a:ext cx="226557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200" b="1">
                <a:solidFill>
                  <a:srgbClr val="202124"/>
                </a:solidFill>
                <a:latin typeface="Roboto"/>
                <a:ea typeface="Noto Sans SC"/>
              </a:rPr>
              <a:t>Resolving 4.7% Round 1 recall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19072" y="4151376"/>
            <a:ext cx="2265578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98"/>
              </a:lnSpc>
            </a:pPr>
            <a:r>
              <a:rPr sz="1030" b="0">
                <a:solidFill>
                  <a:srgbClr val="5F6368"/>
                </a:solidFill>
                <a:latin typeface="Roboto"/>
                <a:ea typeface="Noto Sans SC"/>
              </a:rPr>
              <a:t>Round 1 quick scan (3.5 Flash, 60.5M tokens) hit 18/385 (4.7%) SQLi flaws; --deep unlocks full CWE coverage.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13834" y="3493008"/>
            <a:ext cx="3564026" cy="210312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13834" y="3493008"/>
            <a:ext cx="3564026" cy="54864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scrub:native=836x836;crop=0.000,0.000;out=400x400;exif=0;origin=genim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0138" y="3694176"/>
            <a:ext cx="914400" cy="9144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484266" y="3694176"/>
            <a:ext cx="226557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124"/>
                </a:solidFill>
                <a:latin typeface="Roboto"/>
                <a:ea typeface="Noto Sans SC"/>
              </a:rPr>
              <a:t>77.8%–100% Python recall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4266" y="4151376"/>
            <a:ext cx="2265578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98"/>
              </a:lnSpc>
            </a:pPr>
            <a:r>
              <a:rPr sz="1030" b="0">
                <a:solidFill>
                  <a:srgbClr val="5F6368"/>
                </a:solidFill>
                <a:latin typeface="Roboto"/>
                <a:ea typeface="Noto Sans SC"/>
              </a:rPr>
              <a:t>Round 2 hit 7/9 (77.8%) on Werkzeug 2.2.0 and 11/11 (100%, 0% FP) with 3.8 Flash Cyber &amp; 4 Argon.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79028" y="3493008"/>
            <a:ext cx="3564026" cy="210312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79028" y="3493008"/>
            <a:ext cx="3564026" cy="54864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scrub:native=820x820;crop=0.000,0.000;out=400x400;exif=0;origin=genim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5332" y="3694176"/>
            <a:ext cx="914400" cy="9144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49460" y="3694176"/>
            <a:ext cx="226557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124"/>
                </a:solidFill>
                <a:latin typeface="Roboto"/>
                <a:ea typeface="Noto Sans SC"/>
              </a:rPr>
              <a:t>Multi-language expansion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49460" y="4151376"/>
            <a:ext cx="2265578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98"/>
              </a:lnSpc>
            </a:pPr>
            <a:r>
              <a:rPr sz="1030" b="0">
                <a:solidFill>
                  <a:srgbClr val="5F6368"/>
                </a:solidFill>
                <a:latin typeface="Roboto"/>
                <a:ea typeface="Noto Sans SC"/>
              </a:rPr>
              <a:t>Validated across Python, Node.js (118 bugs), and Java (90 bugs), ready for C/C++, Ruby, and PHP apps.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779008"/>
            <a:ext cx="11094415" cy="530352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5779008"/>
            <a:ext cx="73152" cy="530352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59" y="5852160"/>
            <a:ext cx="10637215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96"/>
              </a:lnSpc>
            </a:pPr>
            <a:r>
              <a:rPr sz="1080" b="0">
                <a:solidFill>
                  <a:srgbClr val="202124"/>
                </a:solidFill>
                <a:latin typeface="Roboto"/>
                <a:ea typeface="Noto Sans SC"/>
              </a:rPr>
              <a:t>Key evaluation takeaway: Pair Gemini 3.8 Flash Cyber or 4 Argon with --deep and semantic -c context.</a:t>
            </a:r>
          </a:p>
        </p:txBody>
      </p:sp>
      <p:sp>
        <p:nvSpPr>
          <p:cNvPr id="7" name="sig-mark"/>
          <p:cNvSpPr/>
          <p:nvPr/>
        </p:nvSpPr>
        <p:spPr>
          <a:xfrm>
            <a:off x="1799471" y="6556248"/>
            <a:ext cx="91440" cy="91440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ig-mark"/>
          <p:cNvSpPr/>
          <p:nvPr/>
        </p:nvSpPr>
        <p:spPr>
          <a:xfrm>
            <a:off x="1982351" y="6556248"/>
            <a:ext cx="91440" cy="91440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ig-mark"/>
          <p:cNvSpPr/>
          <p:nvPr/>
        </p:nvSpPr>
        <p:spPr>
          <a:xfrm>
            <a:off x="2165231" y="6556248"/>
            <a:ext cx="91440" cy="91440"/>
          </a:xfrm>
          <a:prstGeom prst="ellipse">
            <a:avLst/>
          </a:prstGeom>
          <a:solidFill>
            <a:srgbClr val="FBBC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ig-mark"/>
          <p:cNvSpPr/>
          <p:nvPr/>
        </p:nvSpPr>
        <p:spPr>
          <a:xfrm>
            <a:off x="2348111" y="6556248"/>
            <a:ext cx="91440" cy="91440"/>
          </a:xfrm>
          <a:prstGeom prst="ellipse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ub:native=3168x451;crop=0.000,0.000;out=3165x451;enc=jpeg;exif=0;origin=gen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7373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737360"/>
          </a:xfrm>
          <a:prstGeom prst="rect">
            <a:avLst/>
          </a:prstGeom>
          <a:solidFill>
            <a:srgbClr val="FFFFFF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h-header-kicker"/>
          <p:cNvSpPr txBox="1"/>
          <p:nvPr/>
        </p:nvSpPr>
        <p:spPr>
          <a:xfrm>
            <a:off x="502920" y="274320"/>
            <a:ext cx="52728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85ABC"/>
                </a:solidFill>
                <a:latin typeface="Roboto"/>
                <a:ea typeface="Noto Sans SC"/>
              </a:rPr>
              <a:t>TIMEOUT BOTTLENECK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5272887" cy="891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02124"/>
                </a:solidFill>
                <a:latin typeface="Roboto"/>
                <a:ea typeface="Noto Sans SC"/>
              </a:rPr>
              <a:t>Overcome Round 1 4.7% recall bottlenecks</a:t>
            </a:r>
          </a:p>
        </p:txBody>
      </p:sp>
      <p:pic>
        <p:nvPicPr>
          <p:cNvPr id="6" name="Picture 5" descr="g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528816"/>
            <a:ext cx="1067951" cy="164592"/>
          </a:xfrm>
          <a:prstGeom prst="rect">
            <a:avLst/>
          </a:prstGeom>
        </p:spPr>
      </p:pic>
      <p:sp>
        <p:nvSpPr>
          <p:cNvPr id="7" name="pageno"/>
          <p:cNvSpPr txBox="1"/>
          <p:nvPr/>
        </p:nvSpPr>
        <p:spPr>
          <a:xfrm>
            <a:off x="11018520" y="651967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F6368"/>
                </a:solidFill>
                <a:latin typeface="Roboto"/>
                <a:ea typeface="Noto Sans SC"/>
              </a:rPr>
              <a:t>3 /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74519"/>
            <a:ext cx="5376672" cy="3749039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74519"/>
            <a:ext cx="5376672" cy="64008"/>
          </a:xfrm>
          <a:prstGeom prst="rect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" y="2066543"/>
            <a:ext cx="2893009" cy="256032"/>
          </a:xfrm>
          <a:prstGeom prst="roundRect">
            <a:avLst>
              <a:gd name="adj" fmla="val 50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057400"/>
            <a:ext cx="2893009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B06000"/>
                </a:solidFill>
                <a:latin typeface="Roboto"/>
                <a:ea typeface="Noto Sans SC"/>
              </a:rPr>
              <a:t>ROUND 1 BOTTLENECK: 4.7% RECALL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432304"/>
            <a:ext cx="3337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1">
                <a:solidFill>
                  <a:srgbClr val="202124"/>
                </a:solidFill>
                <a:latin typeface="Roboto"/>
                <a:ea typeface="Noto Sans SC"/>
              </a:rPr>
              <a:t>Shallow scan &amp; config gaps</a:t>
            </a:r>
          </a:p>
        </p:txBody>
      </p:sp>
      <p:pic>
        <p:nvPicPr>
          <p:cNvPr id="17" name="Picture 16" descr="scrub:native=806x806;crop=0.000,0.000;out=580x580;exif=0;origin=genim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2029968"/>
            <a:ext cx="1325880" cy="1325880"/>
          </a:xfrm>
          <a:prstGeom prst="rect">
            <a:avLst/>
          </a:prstGeom>
        </p:spPr>
      </p:pic>
      <p:cxnSp>
        <p:nvCxnSpPr>
          <p:cNvPr id="18" name="Connector 17"/>
          <p:cNvCxnSpPr/>
          <p:nvPr/>
        </p:nvCxnSpPr>
        <p:spPr>
          <a:xfrm>
            <a:off x="777240" y="3456432"/>
            <a:ext cx="4919472" cy="0"/>
          </a:xfrm>
          <a:prstGeom prst="line">
            <a:avLst/>
          </a:prstGeom>
          <a:ln w="12700">
            <a:solidFill>
              <a:srgbClr val="DADC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77240" y="3584448"/>
            <a:ext cx="4919472" cy="1874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20"/>
              </a:lnSpc>
            </a:pPr>
            <a:r>
              <a:rPr sz="1060" b="0">
                <a:solidFill>
                  <a:srgbClr val="5F6368"/>
                </a:solidFill>
                <a:latin typeface="Roboto"/>
                <a:ea typeface="Noto Sans SC"/>
              </a:rPr>
              <a:t>• 3.5 Flash quick scan hit 18/385 (4.7%) across 14 apps (SQLi only)</a:t>
            </a:r>
          </a:p>
          <a:p>
            <a:pPr algn="l">
              <a:lnSpc>
                <a:spcPts val="1420"/>
              </a:lnSpc>
            </a:pPr>
            <a:r>
              <a:rPr sz="1060" b="0">
                <a:solidFill>
                  <a:srgbClr val="5F6368"/>
                </a:solidFill>
                <a:latin typeface="Roboto"/>
                <a:ea typeface="Noto Sans SC"/>
              </a:rPr>
              <a:t>• Default config.yaml omits .xml, .yml, .json, .pug (500 KB cap)</a:t>
            </a:r>
          </a:p>
          <a:p>
            <a:pPr algn="l">
              <a:lnSpc>
                <a:spcPts val="1420"/>
              </a:lnSpc>
            </a:pPr>
            <a:r>
              <a:rPr sz="1060" b="0">
                <a:solidFill>
                  <a:srgbClr val="5F6368"/>
                </a:solidFill>
                <a:latin typeface="Roboto"/>
                <a:ea typeface="Noto Sans SC"/>
              </a:rPr>
              <a:t>• Literal requirements.txt in --deep -c yields 0 bugs (py_13 trap)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874519"/>
            <a:ext cx="5379415" cy="3749039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874519"/>
            <a:ext cx="5379415" cy="64008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0" y="2066543"/>
            <a:ext cx="2859227" cy="256032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057400"/>
            <a:ext cx="2859227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37333"/>
                </a:solidFill>
                <a:latin typeface="Roboto"/>
                <a:ea typeface="Noto Sans SC"/>
              </a:rPr>
              <a:t>ROUND 2 &amp; 3 FIX: PARALLEL --DEEP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32304"/>
            <a:ext cx="3337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1">
                <a:solidFill>
                  <a:srgbClr val="202124"/>
                </a:solidFill>
                <a:latin typeface="Roboto"/>
                <a:ea typeface="Noto Sans SC"/>
              </a:rPr>
              <a:t>16 workers + semantic context</a:t>
            </a:r>
          </a:p>
        </p:txBody>
      </p:sp>
      <p:pic>
        <p:nvPicPr>
          <p:cNvPr id="25" name="Picture 24" descr="scrub:native=842x842;crop=0.000,0.000;out=580x580;exif=0;origin=genim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2680" y="2029968"/>
            <a:ext cx="1325880" cy="1325880"/>
          </a:xfrm>
          <a:prstGeom prst="rect">
            <a:avLst/>
          </a:prstGeom>
        </p:spPr>
      </p:pic>
      <p:cxnSp>
        <p:nvCxnSpPr>
          <p:cNvPr id="26" name="Connector 25"/>
          <p:cNvCxnSpPr/>
          <p:nvPr/>
        </p:nvCxnSpPr>
        <p:spPr>
          <a:xfrm>
            <a:off x="6492240" y="3456432"/>
            <a:ext cx="4919472" cy="0"/>
          </a:xfrm>
          <a:prstGeom prst="line">
            <a:avLst/>
          </a:prstGeom>
          <a:ln w="12700">
            <a:solidFill>
              <a:srgbClr val="DADC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92240" y="3584448"/>
            <a:ext cx="4919472" cy="1874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20"/>
              </a:lnSpc>
            </a:pPr>
            <a:r>
              <a:rPr sz="1060" b="0">
                <a:solidFill>
                  <a:srgbClr val="202124"/>
                </a:solidFill>
                <a:latin typeface="Roboto"/>
                <a:ea typeface="Noto Sans SC"/>
              </a:rPr>
              <a:t>• --deep --deep-workers 16 --deep-max-turns 8 traverses all modules</a:t>
            </a:r>
          </a:p>
          <a:p>
            <a:pPr algn="l">
              <a:lnSpc>
                <a:spcPts val="1420"/>
              </a:lnSpc>
            </a:pPr>
            <a:r>
              <a:rPr sz="1060" b="0">
                <a:solidFill>
                  <a:srgbClr val="202124"/>
                </a:solidFill>
                <a:latin typeface="Roboto"/>
                <a:ea typeface="Noto Sans SC"/>
              </a:rPr>
              <a:t>• Semantic -c context (0 literal file.ext) hits 100% Python GT recall</a:t>
            </a:r>
          </a:p>
          <a:p>
            <a:pPr algn="l">
              <a:lnSpc>
                <a:spcPts val="1420"/>
              </a:lnSpc>
            </a:pPr>
            <a:r>
              <a:rPr sz="1060" b="0">
                <a:solidFill>
                  <a:srgbClr val="202124"/>
                </a:solidFill>
                <a:latin typeface="Roboto"/>
                <a:ea typeface="Noto Sans SC"/>
              </a:rPr>
              <a:t>• Unlocks 77.8% Werkzeug recall, 118 JS bugs, and 90 Java bugs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797296"/>
            <a:ext cx="11094415" cy="530352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797296"/>
            <a:ext cx="73152" cy="530352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" y="5870448"/>
            <a:ext cx="10637215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96"/>
              </a:lnSpc>
            </a:pPr>
            <a:r>
              <a:rPr sz="1080" b="0">
                <a:solidFill>
                  <a:srgbClr val="202124"/>
                </a:solidFill>
                <a:latin typeface="Roboto"/>
                <a:ea typeface="Noto Sans SC"/>
              </a:rPr>
              <a:t>Critical v0.14.0 rule (py_13): Avoid literal file.ext in --deep -c so Tier 0 lockfile pruning never drops app code.</a:t>
            </a:r>
          </a:p>
        </p:txBody>
      </p:sp>
      <p:sp>
        <p:nvSpPr>
          <p:cNvPr id="8" name="sig-mark"/>
          <p:cNvSpPr/>
          <p:nvPr/>
        </p:nvSpPr>
        <p:spPr>
          <a:xfrm>
            <a:off x="1799471" y="6556248"/>
            <a:ext cx="91440" cy="91440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ig-mark"/>
          <p:cNvSpPr/>
          <p:nvPr/>
        </p:nvSpPr>
        <p:spPr>
          <a:xfrm>
            <a:off x="1982351" y="6556248"/>
            <a:ext cx="91440" cy="91440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ig-mark"/>
          <p:cNvSpPr/>
          <p:nvPr/>
        </p:nvSpPr>
        <p:spPr>
          <a:xfrm>
            <a:off x="2165231" y="6556248"/>
            <a:ext cx="91440" cy="91440"/>
          </a:xfrm>
          <a:prstGeom prst="ellipse">
            <a:avLst/>
          </a:prstGeom>
          <a:solidFill>
            <a:srgbClr val="FBBC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ig-mark"/>
          <p:cNvSpPr/>
          <p:nvPr/>
        </p:nvSpPr>
        <p:spPr>
          <a:xfrm>
            <a:off x="2348111" y="6556248"/>
            <a:ext cx="91440" cy="91440"/>
          </a:xfrm>
          <a:prstGeom prst="ellipse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ub:native=3168x451;crop=0.000,0.000;out=3165x451;enc=jpeg;exif=0;origin=gen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7373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737360"/>
          </a:xfrm>
          <a:prstGeom prst="rect">
            <a:avLst/>
          </a:prstGeom>
          <a:solidFill>
            <a:srgbClr val="FFFFFF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h-header-kicker"/>
          <p:cNvSpPr txBox="1"/>
          <p:nvPr/>
        </p:nvSpPr>
        <p:spPr>
          <a:xfrm>
            <a:off x="502920" y="274320"/>
            <a:ext cx="52728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85ABC"/>
                </a:solidFill>
                <a:latin typeface="Roboto"/>
                <a:ea typeface="Noto Sans SC"/>
              </a:rPr>
              <a:t>TAINT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5272887" cy="891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02124"/>
                </a:solidFill>
                <a:latin typeface="Roboto"/>
                <a:ea typeface="Noto Sans SC"/>
              </a:rPr>
              <a:t>Werkzeug 2.2.0 hits 77.8% &amp; fixes wrappers</a:t>
            </a:r>
          </a:p>
        </p:txBody>
      </p:sp>
      <p:pic>
        <p:nvPicPr>
          <p:cNvPr id="6" name="Picture 5" descr="g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528816"/>
            <a:ext cx="1067951" cy="164592"/>
          </a:xfrm>
          <a:prstGeom prst="rect">
            <a:avLst/>
          </a:prstGeom>
        </p:spPr>
      </p:pic>
      <p:sp>
        <p:nvSpPr>
          <p:cNvPr id="7" name="pageno"/>
          <p:cNvSpPr txBox="1"/>
          <p:nvPr/>
        </p:nvSpPr>
        <p:spPr>
          <a:xfrm>
            <a:off x="11018520" y="651967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F6368"/>
                </a:solidFill>
                <a:latin typeface="Roboto"/>
                <a:ea typeface="Noto Sans SC"/>
              </a:rPr>
              <a:t>4 /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74519"/>
            <a:ext cx="5257800" cy="443484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crub:native=2752x1536;crop=0.001,0.000;out=2180x1220;enc=jpeg;exif=0;origin=genim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011680"/>
            <a:ext cx="4983480" cy="2788920"/>
          </a:xfrm>
          <a:prstGeom prst="rect">
            <a:avLst/>
          </a:prstGeom>
        </p:spPr>
      </p:pic>
      <p:pic>
        <p:nvPicPr>
          <p:cNvPr id="14" name="Picture 13" descr="scrub:native=930x930;crop=0.000,0.000;out=460x460;exif=0;origin=genim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4956048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20240" y="4983480"/>
            <a:ext cx="3703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124"/>
                </a:solidFill>
                <a:latin typeface="Roboto"/>
                <a:ea typeface="Noto Sans SC"/>
              </a:rPr>
              <a:t>Werkzeug 2.2.0 deep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5358384"/>
            <a:ext cx="3703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40"/>
              </a:lnSpc>
            </a:pPr>
            <a:r>
              <a:rPr sz="1000" b="0">
                <a:solidFill>
                  <a:srgbClr val="5F6368"/>
                </a:solidFill>
                <a:latin typeface="Roboto"/>
                <a:ea typeface="Noto Sans SC"/>
              </a:rPr>
              <a:t>Recalled 7/12 entries (7/9 distinct mechanisms, 77.8%) at 85%–95% confidence after grouping #9–#12.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1874519"/>
            <a:ext cx="5608015" cy="1353312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874519"/>
            <a:ext cx="82296" cy="1353312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2039112"/>
            <a:ext cx="5212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1">
                <a:solidFill>
                  <a:srgbClr val="202124"/>
                </a:solidFill>
                <a:latin typeface="Roboto"/>
                <a:ea typeface="Noto Sans SC"/>
              </a:rPr>
              <a:t>1. Recalled 7/9 distinct mechanisms (77.8% effective recall)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459736"/>
            <a:ext cx="52120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88"/>
              </a:lnSpc>
            </a:pPr>
            <a:r>
              <a:rPr sz="1030" b="0">
                <a:solidFill>
                  <a:srgbClr val="5F6368"/>
                </a:solidFill>
                <a:latin typeface="Roboto"/>
                <a:ea typeface="Noto Sans SC"/>
              </a:rPr>
              <a:t>Caught multipart DoS (CVE⁠-⁠2023⁠-⁠25577/46136/49767), PIN RCE (CVE⁠-⁠2024⁠-⁠34069), and Request Smuggling.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383279"/>
            <a:ext cx="5608015" cy="1353312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3383279"/>
            <a:ext cx="82296" cy="1353312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3547872"/>
            <a:ext cx="5212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1">
                <a:solidFill>
                  <a:srgbClr val="202124"/>
                </a:solidFill>
                <a:latin typeface="Roboto"/>
                <a:ea typeface="Noto Sans SC"/>
              </a:rPr>
              <a:t>2. Fix for #8 Thin-Wrapper Indirection (CVE-2023-23934)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968496"/>
            <a:ext cx="52120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88"/>
              </a:lnSpc>
            </a:pPr>
            <a:r>
              <a:rPr sz="1030" b="0">
                <a:solidFill>
                  <a:srgbClr val="5F6368"/>
                </a:solidFill>
                <a:latin typeface="Roboto"/>
                <a:ea typeface="Noto Sans SC"/>
              </a:rPr>
              <a:t>http.py (822k tokens) wraps sansio/http.py; co-locate caller + parser with PROJECT_FILE_INDEX.md.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0" y="4892040"/>
            <a:ext cx="5608015" cy="1353312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35040" y="4892040"/>
            <a:ext cx="82296" cy="1353312"/>
          </a:xfrm>
          <a:prstGeom prst="rect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5056631"/>
            <a:ext cx="5212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1">
                <a:solidFill>
                  <a:srgbClr val="202124"/>
                </a:solidFill>
                <a:latin typeface="Roboto"/>
                <a:ea typeface="Noto Sans SC"/>
              </a:rPr>
              <a:t>3. Fix for #9–#12 Guard-Bypass Blind Spot (safe_join CVEs)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5477255"/>
            <a:ext cx="52120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88"/>
              </a:lnSpc>
            </a:pPr>
            <a:r>
              <a:rPr sz="1030" b="0">
                <a:solidFill>
                  <a:srgbClr val="5F6368"/>
                </a:solidFill>
                <a:latin typeface="Roboto"/>
                <a:ea typeface="Noto Sans SC"/>
              </a:rPr>
              <a:t>security.py (273k tokens) judged safe_join safe; add Windows device/UNC bypass rules to -c.</a:t>
            </a:r>
          </a:p>
        </p:txBody>
      </p:sp>
      <p:sp>
        <p:nvSpPr>
          <p:cNvPr id="8" name="sig-mark"/>
          <p:cNvSpPr/>
          <p:nvPr/>
        </p:nvSpPr>
        <p:spPr>
          <a:xfrm>
            <a:off x="1799471" y="6556248"/>
            <a:ext cx="91440" cy="91440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ig-mark"/>
          <p:cNvSpPr/>
          <p:nvPr/>
        </p:nvSpPr>
        <p:spPr>
          <a:xfrm>
            <a:off x="1982351" y="6556248"/>
            <a:ext cx="91440" cy="91440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ig-mark"/>
          <p:cNvSpPr/>
          <p:nvPr/>
        </p:nvSpPr>
        <p:spPr>
          <a:xfrm>
            <a:off x="2165231" y="6556248"/>
            <a:ext cx="91440" cy="91440"/>
          </a:xfrm>
          <a:prstGeom prst="ellipse">
            <a:avLst/>
          </a:prstGeom>
          <a:solidFill>
            <a:srgbClr val="FBBC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ig-mark"/>
          <p:cNvSpPr/>
          <p:nvPr/>
        </p:nvSpPr>
        <p:spPr>
          <a:xfrm>
            <a:off x="2348111" y="6556248"/>
            <a:ext cx="91440" cy="91440"/>
          </a:xfrm>
          <a:prstGeom prst="ellipse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ub:native=3168x451;crop=0.000,0.000;out=3165x451;enc=jpeg;exif=0;origin=gen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7373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737360"/>
          </a:xfrm>
          <a:prstGeom prst="rect">
            <a:avLst/>
          </a:prstGeom>
          <a:solidFill>
            <a:srgbClr val="FFFFFF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h-header-kicker"/>
          <p:cNvSpPr txBox="1"/>
          <p:nvPr/>
        </p:nvSpPr>
        <p:spPr>
          <a:xfrm>
            <a:off x="502920" y="274320"/>
            <a:ext cx="486649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85ABC"/>
                </a:solidFill>
                <a:latin typeface="Roboto"/>
                <a:ea typeface="Noto Sans SC"/>
              </a:rPr>
              <a:t>REASONING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4866497" cy="891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02124"/>
                </a:solidFill>
                <a:latin typeface="Roboto"/>
                <a:ea typeface="Noto Sans SC"/>
              </a:rPr>
              <a:t>Cyber &amp; Argon models achieve 100% recall</a:t>
            </a:r>
          </a:p>
        </p:txBody>
      </p:sp>
      <p:pic>
        <p:nvPicPr>
          <p:cNvPr id="6" name="Picture 5" descr="g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528816"/>
            <a:ext cx="1067951" cy="164592"/>
          </a:xfrm>
          <a:prstGeom prst="rect">
            <a:avLst/>
          </a:prstGeom>
        </p:spPr>
      </p:pic>
      <p:sp>
        <p:nvSpPr>
          <p:cNvPr id="7" name="pageno"/>
          <p:cNvSpPr txBox="1"/>
          <p:nvPr/>
        </p:nvSpPr>
        <p:spPr>
          <a:xfrm>
            <a:off x="11018520" y="651967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F6368"/>
                </a:solidFill>
                <a:latin typeface="Roboto"/>
                <a:ea typeface="Noto Sans SC"/>
              </a:rPr>
              <a:t>5 /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74519"/>
            <a:ext cx="4069080" cy="443484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crub:native=2400x1792;crop=0.000,0.001;out=1636x1220;enc=jpeg;exif=0;origin=genim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011680"/>
            <a:ext cx="3739896" cy="2788920"/>
          </a:xfrm>
          <a:prstGeom prst="rect">
            <a:avLst/>
          </a:prstGeom>
        </p:spPr>
      </p:pic>
      <p:pic>
        <p:nvPicPr>
          <p:cNvPr id="14" name="Picture 13" descr="scrub:native=789x789;crop=0.000,0.000;out=460x460;exif=0;origin=genim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919472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4956048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124"/>
                </a:solidFill>
                <a:latin typeface="Roboto"/>
                <a:ea typeface="Noto Sans SC"/>
              </a:rPr>
              <a:t>Priority model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5321808"/>
            <a:ext cx="2606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28"/>
              </a:lnSpc>
            </a:pPr>
            <a:r>
              <a:rPr sz="990" b="0">
                <a:solidFill>
                  <a:srgbClr val="5F6368"/>
                </a:solidFill>
                <a:latin typeface="Roboto"/>
                <a:ea typeface="Noto Sans SC"/>
              </a:rPr>
              <a:t>3.8 Flash Cyber reaches 100% Python recall 45% faster (133s); 4 Argon leads Java (90 bugs) &amp; deep Py (76s).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4828032" y="1874519"/>
            <a:ext cx="6812280" cy="3255265"/>
            <a:chOff x="4828032" y="1874519"/>
            <a:chExt cx="6812280" cy="3255265"/>
          </a:xfrm>
        </p:grpSpPr>
        <p:sp>
          <p:nvSpPr>
            <p:cNvPr id="18" name="Rectangle 17"/>
            <p:cNvSpPr/>
            <p:nvPr/>
          </p:nvSpPr>
          <p:spPr>
            <a:xfrm>
              <a:off x="4828032" y="1874519"/>
              <a:ext cx="6812280" cy="411480"/>
            </a:xfrm>
            <a:prstGeom prst="rect">
              <a:avLst/>
            </a:prstGeom>
            <a:solidFill>
              <a:srgbClr val="D2E3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828032" y="2679192"/>
              <a:ext cx="6812280" cy="393192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828032" y="3465576"/>
              <a:ext cx="6812280" cy="393192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828032" y="4251960"/>
              <a:ext cx="6812280" cy="292608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828032" y="4837176"/>
              <a:ext cx="6812280" cy="292608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828032" y="2273198"/>
              <a:ext cx="6812280" cy="18288"/>
            </a:xfrm>
            <a:prstGeom prst="rect">
              <a:avLst/>
            </a:prstGeom>
            <a:solidFill>
              <a:srgbClr val="DADCE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19472" y="1874519"/>
              <a:ext cx="1645920" cy="41148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1">
                  <a:solidFill>
                    <a:srgbClr val="202124"/>
                  </a:solidFill>
                  <a:latin typeface="Roboto"/>
                  <a:ea typeface="Noto Sans SC"/>
                </a:rPr>
                <a:t>Model &amp; Mode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748272" y="1874519"/>
              <a:ext cx="1554480" cy="41148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1">
                  <a:solidFill>
                    <a:srgbClr val="202124"/>
                  </a:solidFill>
                  <a:latin typeface="Roboto"/>
                  <a:ea typeface="Noto Sans SC"/>
                </a:rPr>
                <a:t>Target benchmark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485632" y="1874519"/>
              <a:ext cx="457200" cy="41148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16"/>
                </a:lnSpc>
              </a:pPr>
              <a:r>
                <a:rPr sz="930" b="1">
                  <a:solidFill>
                    <a:srgbClr val="202124"/>
                  </a:solidFill>
                  <a:latin typeface="Roboto"/>
                  <a:ea typeface="Noto Sans SC"/>
                </a:rPr>
                <a:t>Bugs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9125712" y="1874519"/>
              <a:ext cx="685800" cy="41148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1">
                  <a:solidFill>
                    <a:srgbClr val="202124"/>
                  </a:solidFill>
                  <a:latin typeface="Roboto"/>
                  <a:ea typeface="Noto Sans SC"/>
                </a:rPr>
                <a:t>Crit / High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994392" y="1874519"/>
              <a:ext cx="868680" cy="41148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1">
                  <a:solidFill>
                    <a:srgbClr val="202124"/>
                  </a:solidFill>
                  <a:latin typeface="Roboto"/>
                  <a:ea typeface="Noto Sans SC"/>
                </a:rPr>
                <a:t>Recall / CWE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1045952" y="1874519"/>
              <a:ext cx="502920" cy="41148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16"/>
                </a:lnSpc>
              </a:pPr>
              <a:r>
                <a:rPr sz="930" b="1">
                  <a:solidFill>
                    <a:srgbClr val="202124"/>
                  </a:solidFill>
                  <a:latin typeface="Roboto"/>
                  <a:ea typeface="Noto Sans SC"/>
                </a:rPr>
                <a:t>Sec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919472" y="2286000"/>
              <a:ext cx="164592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3.5 Flash (Quick c0)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748272" y="2286000"/>
              <a:ext cx="155448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Python WSGI (2f)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485632" y="2286000"/>
              <a:ext cx="45720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8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9125712" y="2286000"/>
              <a:ext cx="68580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2 / 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994392" y="2286000"/>
              <a:ext cx="86868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72.7% (8/11)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045952" y="2286000"/>
              <a:ext cx="50292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126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4919472" y="2679192"/>
              <a:ext cx="164592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3.8 Cyber (Quick c3)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748272" y="2679192"/>
              <a:ext cx="155448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Python WSGI (2f)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485632" y="2679192"/>
              <a:ext cx="45720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11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9125712" y="2679192"/>
              <a:ext cx="68580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3 / 4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9994392" y="2679192"/>
              <a:ext cx="86868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100% (11/11)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1045952" y="2679192"/>
              <a:ext cx="50292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133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919472" y="3072384"/>
              <a:ext cx="164592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3.8 Flash (Quick c3)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748272" y="3072384"/>
              <a:ext cx="155448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Python WSGI (2f)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8485632" y="3072384"/>
              <a:ext cx="45720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13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9125712" y="3072384"/>
              <a:ext cx="68580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4 / 6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994392" y="3072384"/>
              <a:ext cx="86868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100% (11/11)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1045952" y="3072384"/>
              <a:ext cx="50292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231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4919472" y="3465576"/>
              <a:ext cx="164592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4 Argon (--deep c3)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748272" y="3465576"/>
              <a:ext cx="155448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Python WSGI (2f)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8485632" y="3465576"/>
              <a:ext cx="45720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11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125712" y="3465576"/>
              <a:ext cx="68580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4 / 4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994392" y="3465576"/>
              <a:ext cx="86868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100% (11/11)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11045952" y="3465576"/>
              <a:ext cx="50292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76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4919472" y="3858768"/>
              <a:ext cx="164592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4 Argon (Quick c0)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6748272" y="3858768"/>
              <a:ext cx="155448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Python WSGI (2f)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8485632" y="3858768"/>
              <a:ext cx="45720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10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9125712" y="3858768"/>
              <a:ext cx="68580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3 / 5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9994392" y="3858768"/>
              <a:ext cx="86868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90.9% (10/11)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11045952" y="3858768"/>
              <a:ext cx="502920" cy="39319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307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4919472" y="4251960"/>
              <a:ext cx="164592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3.8 Flash (--deep c3)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6748272" y="4251960"/>
              <a:ext cx="155448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Node.js bench (16f)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8485632" y="4251960"/>
              <a:ext cx="45720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118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9125712" y="4251960"/>
              <a:ext cx="68580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19 / 58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9994392" y="4251960"/>
              <a:ext cx="86868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35 CWEs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11045952" y="4251960"/>
              <a:ext cx="50292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224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4919472" y="4544568"/>
              <a:ext cx="164592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4 Argon (--deep c3)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6748272" y="4544568"/>
              <a:ext cx="155448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Java bench (20f)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8485632" y="4544568"/>
              <a:ext cx="45720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90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9125712" y="4544568"/>
              <a:ext cx="68580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8 / 36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9994392" y="4544568"/>
              <a:ext cx="86868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29 CWEs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11045952" y="4544568"/>
              <a:ext cx="50292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327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4919472" y="4837176"/>
              <a:ext cx="164592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3.8 Flash (--deep c3)</a:t>
              </a: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6748272" y="4837176"/>
              <a:ext cx="155448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Java bench (20f)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8485632" y="4837176"/>
              <a:ext cx="45720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80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9125712" y="4837176"/>
              <a:ext cx="68580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7 / 32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9994392" y="4837176"/>
              <a:ext cx="86868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29 CWEs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11045952" y="4837176"/>
              <a:ext cx="50292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253</a:t>
              </a:r>
            </a:p>
          </p:txBody>
        </p:sp>
      </p:grpSp>
      <p:sp>
        <p:nvSpPr>
          <p:cNvPr id="78" name="Rounded Rectangle 77"/>
          <p:cNvSpPr/>
          <p:nvPr/>
        </p:nvSpPr>
        <p:spPr>
          <a:xfrm>
            <a:off x="4828032" y="5797296"/>
            <a:ext cx="6812280" cy="534415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828032" y="5797296"/>
            <a:ext cx="73152" cy="534415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102352" y="5870448"/>
            <a:ext cx="6355080" cy="4429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56"/>
              </a:lnSpc>
            </a:pPr>
            <a:r>
              <a:rPr sz="1040" b="0">
                <a:solidFill>
                  <a:srgbClr val="202124"/>
                </a:solidFill>
                <a:latin typeface="Roboto"/>
                <a:ea typeface="Noto Sans SC"/>
              </a:rPr>
              <a:t>Priority model ask validated: 3.8 Flash Cyber (133s) and 4 Argon (76s) both hit 100% (11/11) with 0% FP.</a:t>
            </a:r>
          </a:p>
        </p:txBody>
      </p:sp>
      <p:sp>
        <p:nvSpPr>
          <p:cNvPr id="8" name="sig-mark"/>
          <p:cNvSpPr/>
          <p:nvPr/>
        </p:nvSpPr>
        <p:spPr>
          <a:xfrm>
            <a:off x="1799471" y="6556248"/>
            <a:ext cx="91440" cy="91440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ig-mark"/>
          <p:cNvSpPr/>
          <p:nvPr/>
        </p:nvSpPr>
        <p:spPr>
          <a:xfrm>
            <a:off x="1982351" y="6556248"/>
            <a:ext cx="91440" cy="91440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ig-mark"/>
          <p:cNvSpPr/>
          <p:nvPr/>
        </p:nvSpPr>
        <p:spPr>
          <a:xfrm>
            <a:off x="2165231" y="6556248"/>
            <a:ext cx="91440" cy="91440"/>
          </a:xfrm>
          <a:prstGeom prst="ellipse">
            <a:avLst/>
          </a:prstGeom>
          <a:solidFill>
            <a:srgbClr val="FBBC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ig-mark"/>
          <p:cNvSpPr/>
          <p:nvPr/>
        </p:nvSpPr>
        <p:spPr>
          <a:xfrm>
            <a:off x="2348111" y="6556248"/>
            <a:ext cx="91440" cy="91440"/>
          </a:xfrm>
          <a:prstGeom prst="ellipse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ub:native=3168x451;crop=0.000,0.000;out=3165x451;enc=jpeg;exif=0;origin=gen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7373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737360"/>
          </a:xfrm>
          <a:prstGeom prst="rect">
            <a:avLst/>
          </a:prstGeom>
          <a:solidFill>
            <a:srgbClr val="FFFFFF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h-header-kicker"/>
          <p:cNvSpPr txBox="1"/>
          <p:nvPr/>
        </p:nvSpPr>
        <p:spPr>
          <a:xfrm>
            <a:off x="502920" y="274320"/>
            <a:ext cx="52728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85ABC"/>
                </a:solidFill>
                <a:latin typeface="Roboto"/>
                <a:ea typeface="Noto Sans SC"/>
              </a:rPr>
              <a:t>CONTEXT BLUEPRINT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5272887" cy="891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02124"/>
                </a:solidFill>
                <a:latin typeface="Roboto"/>
                <a:ea typeface="Noto Sans SC"/>
              </a:rPr>
              <a:t>Hybrid -c context unlocks 100% GT recall</a:t>
            </a:r>
          </a:p>
        </p:txBody>
      </p:sp>
      <p:pic>
        <p:nvPicPr>
          <p:cNvPr id="6" name="Picture 5" descr="g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528816"/>
            <a:ext cx="1067951" cy="164592"/>
          </a:xfrm>
          <a:prstGeom prst="rect">
            <a:avLst/>
          </a:prstGeom>
        </p:spPr>
      </p:pic>
      <p:sp>
        <p:nvSpPr>
          <p:cNvPr id="7" name="pageno"/>
          <p:cNvSpPr txBox="1"/>
          <p:nvPr/>
        </p:nvSpPr>
        <p:spPr>
          <a:xfrm>
            <a:off x="11018520" y="651967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F6368"/>
                </a:solidFill>
                <a:latin typeface="Roboto"/>
                <a:ea typeface="Noto Sans SC"/>
              </a:rPr>
              <a:t>6 /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74519"/>
            <a:ext cx="2650159" cy="3749039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74519"/>
            <a:ext cx="2650159" cy="64008"/>
          </a:xfrm>
          <a:prstGeom prst="rect">
            <a:avLst/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crub:native=831x831;crop=0.000,0.000;out=488x488;exif=0;origin=genim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8448" y="2039112"/>
            <a:ext cx="1115568" cy="11155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4944" y="3246120"/>
            <a:ext cx="2357551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202124"/>
                </a:solidFill>
                <a:latin typeface="Roboto"/>
                <a:ea typeface="Noto Sans SC"/>
              </a:rPr>
              <a:t>Zero context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3666744"/>
            <a:ext cx="2357551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85ABC"/>
                </a:solidFill>
                <a:latin typeface="Roboto"/>
                <a:ea typeface="Noto Sans SC"/>
              </a:rPr>
              <a:t>72.7% Py / 24 JS / 10 Java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142231"/>
            <a:ext cx="2247823" cy="0"/>
          </a:xfrm>
          <a:prstGeom prst="line">
            <a:avLst/>
          </a:prstGeom>
          <a:ln w="12700">
            <a:solidFill>
              <a:srgbClr val="DADC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94944" y="4270248"/>
            <a:ext cx="2357551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38"/>
              </a:lnSpc>
            </a:pPr>
            <a:r>
              <a:rPr sz="990" b="0">
                <a:solidFill>
                  <a:srgbClr val="5F6368"/>
                </a:solidFill>
                <a:latin typeface="Roboto"/>
                <a:ea typeface="Noto Sans SC"/>
              </a:rPr>
              <a:t>No -c flag; finds 8/11 app flaws (SQLi/RCE) but misses Werkzeug CVEs, PIN RCE &amp; Cookie.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63391" y="1874519"/>
            <a:ext cx="2650159" cy="3749039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63391" y="1874519"/>
            <a:ext cx="2650159" cy="64008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crub:native=865x865;crop=0.000,0.000;out=488x488;exif=0;origin=genim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3199" y="2039112"/>
            <a:ext cx="1115568" cy="11155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509695" y="3246120"/>
            <a:ext cx="2357551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202124"/>
                </a:solidFill>
                <a:latin typeface="Roboto"/>
                <a:ea typeface="Noto Sans SC"/>
              </a:rPr>
              <a:t>SCA dependency manifest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9695" y="3666744"/>
            <a:ext cx="2357551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85ABC"/>
                </a:solidFill>
                <a:latin typeface="Roboto"/>
                <a:ea typeface="Noto Sans SC"/>
              </a:rPr>
              <a:t>100% Py / 25 JS / 13 Java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564559" y="4142231"/>
            <a:ext cx="2247824" cy="0"/>
          </a:xfrm>
          <a:prstGeom prst="line">
            <a:avLst/>
          </a:prstGeom>
          <a:ln w="12700">
            <a:solidFill>
              <a:srgbClr val="DADC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509695" y="4270248"/>
            <a:ext cx="2357551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38"/>
              </a:lnSpc>
            </a:pPr>
            <a:r>
              <a:rPr sz="990" b="0">
                <a:solidFill>
                  <a:srgbClr val="5F6368"/>
                </a:solidFill>
                <a:latin typeface="Roboto"/>
                <a:ea typeface="Noto Sans SC"/>
              </a:rPr>
              <a:t>Supplies semantic versions (Werkzeug 2.2.0, jsonwebtoken, MyBatis) for CVE⁠-⁠2023⁠-⁠25577.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8143" y="1874519"/>
            <a:ext cx="2650159" cy="3749039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8143" y="1874519"/>
            <a:ext cx="2650159" cy="64008"/>
          </a:xfrm>
          <a:prstGeom prst="rect">
            <a:avLst/>
          </a:prstGeom>
          <a:solidFill>
            <a:srgbClr val="FBBC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crub:native=999x999;crop=0.000,0.000;out=488x488;exif=0;origin=genim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7951" y="2039112"/>
            <a:ext cx="1115568" cy="111556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324447" y="3246120"/>
            <a:ext cx="2357551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202124"/>
                </a:solidFill>
                <a:latin typeface="Roboto"/>
                <a:ea typeface="Noto Sans SC"/>
              </a:rPr>
              <a:t>SAST framework topology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4447" y="3666744"/>
            <a:ext cx="2357551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85ABC"/>
                </a:solidFill>
                <a:latin typeface="Roboto"/>
                <a:ea typeface="Noto Sans SC"/>
              </a:rPr>
              <a:t>90.9% Py / 35 JS / 29 Java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379311" y="4142231"/>
            <a:ext cx="2247824" cy="0"/>
          </a:xfrm>
          <a:prstGeom prst="line">
            <a:avLst/>
          </a:prstGeom>
          <a:ln w="12700">
            <a:solidFill>
              <a:srgbClr val="DADC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324447" y="4270248"/>
            <a:ext cx="2357551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38"/>
              </a:lnSpc>
            </a:pPr>
            <a:r>
              <a:rPr sz="990" b="0">
                <a:solidFill>
                  <a:srgbClr val="5F6368"/>
                </a:solidFill>
                <a:latin typeface="Roboto"/>
                <a:ea typeface="Noto Sans SC"/>
              </a:rPr>
              <a:t>Maps WSGI handlers, Express routes, Spring controllers, and thin wrapper call chains.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92895" y="1874519"/>
            <a:ext cx="2650159" cy="3749039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92895" y="1874519"/>
            <a:ext cx="2650159" cy="64008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crub:native=828x828;crop=0.000,0.000;out=488x488;exif=0;origin=genim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2703" y="2039112"/>
            <a:ext cx="1115568" cy="11155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139199" y="3246120"/>
            <a:ext cx="2357551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202124"/>
                </a:solidFill>
                <a:latin typeface="Roboto"/>
                <a:ea typeface="Noto Sans SC"/>
              </a:rPr>
              <a:t>Hybrid max context brief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9199" y="3666744"/>
            <a:ext cx="2357551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7333"/>
                </a:solidFill>
                <a:latin typeface="Roboto"/>
                <a:ea typeface="Noto Sans SC"/>
              </a:rPr>
              <a:t>100% Py / 118 JS / 90 Java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94063" y="4142231"/>
            <a:ext cx="2247824" cy="0"/>
          </a:xfrm>
          <a:prstGeom prst="line">
            <a:avLst/>
          </a:prstGeom>
          <a:ln w="12700">
            <a:solidFill>
              <a:srgbClr val="DADC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39199" y="4270248"/>
            <a:ext cx="2357551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38"/>
              </a:lnSpc>
            </a:pPr>
            <a:r>
              <a:rPr sz="990" b="0">
                <a:solidFill>
                  <a:srgbClr val="5F6368"/>
                </a:solidFill>
                <a:latin typeface="Roboto"/>
                <a:ea typeface="Noto Sans SC"/>
              </a:rPr>
              <a:t>Combines semantic SCA, SAST sinks, and guard-bypass rules with 0% FP on safe_join.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797296"/>
            <a:ext cx="11094415" cy="530352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8640" y="5797296"/>
            <a:ext cx="73152" cy="530352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59" y="5870448"/>
            <a:ext cx="10637215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96"/>
              </a:lnSpc>
            </a:pPr>
            <a:r>
              <a:rPr sz="1080" b="0">
                <a:solidFill>
                  <a:srgbClr val="202124"/>
                </a:solidFill>
                <a:latin typeface="Roboto"/>
                <a:ea typeface="Noto Sans SC"/>
              </a:rPr>
              <a:t>Context blueprint rule: Inject semantic package versions &amp; wrapper call chains without literal file.ext names.</a:t>
            </a:r>
          </a:p>
        </p:txBody>
      </p:sp>
      <p:sp>
        <p:nvSpPr>
          <p:cNvPr id="8" name="sig-mark"/>
          <p:cNvSpPr/>
          <p:nvPr/>
        </p:nvSpPr>
        <p:spPr>
          <a:xfrm>
            <a:off x="1799471" y="6556248"/>
            <a:ext cx="91440" cy="91440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ig-mark"/>
          <p:cNvSpPr/>
          <p:nvPr/>
        </p:nvSpPr>
        <p:spPr>
          <a:xfrm>
            <a:off x="1982351" y="6556248"/>
            <a:ext cx="91440" cy="91440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ig-mark"/>
          <p:cNvSpPr/>
          <p:nvPr/>
        </p:nvSpPr>
        <p:spPr>
          <a:xfrm>
            <a:off x="2165231" y="6556248"/>
            <a:ext cx="91440" cy="91440"/>
          </a:xfrm>
          <a:prstGeom prst="ellipse">
            <a:avLst/>
          </a:prstGeom>
          <a:solidFill>
            <a:srgbClr val="FBBC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ig-mark"/>
          <p:cNvSpPr/>
          <p:nvPr/>
        </p:nvSpPr>
        <p:spPr>
          <a:xfrm>
            <a:off x="2348111" y="6556248"/>
            <a:ext cx="91440" cy="91440"/>
          </a:xfrm>
          <a:prstGeom prst="ellipse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ub:native=3168x451;crop=0.000,0.000;out=3165x451;enc=jpeg;exif=0;origin=gen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7373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737360"/>
          </a:xfrm>
          <a:prstGeom prst="rect">
            <a:avLst/>
          </a:prstGeom>
          <a:solidFill>
            <a:srgbClr val="FFFFFF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h-header-kicker"/>
          <p:cNvSpPr txBox="1"/>
          <p:nvPr/>
        </p:nvSpPr>
        <p:spPr>
          <a:xfrm>
            <a:off x="502920" y="274320"/>
            <a:ext cx="352033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85ABC"/>
                </a:solidFill>
                <a:latin typeface="Roboto"/>
                <a:ea typeface="Noto Sans SC"/>
              </a:rPr>
              <a:t>ABLATION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3520331" cy="891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02124"/>
                </a:solidFill>
                <a:latin typeface="Roboto"/>
                <a:ea typeface="Noto Sans SC"/>
              </a:rPr>
              <a:t>Model, mode &amp; context compound</a:t>
            </a:r>
          </a:p>
        </p:txBody>
      </p:sp>
      <p:pic>
        <p:nvPicPr>
          <p:cNvPr id="6" name="Picture 5" descr="g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528816"/>
            <a:ext cx="1067951" cy="164592"/>
          </a:xfrm>
          <a:prstGeom prst="rect">
            <a:avLst/>
          </a:prstGeom>
        </p:spPr>
      </p:pic>
      <p:sp>
        <p:nvSpPr>
          <p:cNvPr id="7" name="pageno"/>
          <p:cNvSpPr txBox="1"/>
          <p:nvPr/>
        </p:nvSpPr>
        <p:spPr>
          <a:xfrm>
            <a:off x="11018520" y="651967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F6368"/>
                </a:solidFill>
                <a:latin typeface="Roboto"/>
                <a:ea typeface="Noto Sans SC"/>
              </a:rPr>
              <a:t>7 /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74519"/>
            <a:ext cx="7178040" cy="3767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3" y="1883664"/>
            <a:ext cx="7059168" cy="27756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art_ab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1938528"/>
            <a:ext cx="6949440" cy="266594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48640" y="5779008"/>
            <a:ext cx="7178040" cy="530352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779008"/>
            <a:ext cx="73152" cy="530352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5852160"/>
            <a:ext cx="67208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1040" b="0">
                <a:solidFill>
                  <a:srgbClr val="202124"/>
                </a:solidFill>
                <a:latin typeface="Roboto"/>
                <a:ea typeface="Noto Sans SC"/>
              </a:rPr>
              <a:t>End-to-end progression: 4.7% R1 -&gt; 77.8% Werkzeug R2 -&gt; 100% Py GT, 118 JS &amp; 90 Java bugs.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874519"/>
            <a:ext cx="3730752" cy="2139696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874519"/>
            <a:ext cx="73152" cy="2139696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crub:native=842x842;crop=0.000,0.000;out=432x432;exif=0;origin=genim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5008" y="2029968"/>
            <a:ext cx="987552" cy="9875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162288" y="2029968"/>
            <a:ext cx="2331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124"/>
                </a:solidFill>
                <a:latin typeface="Roboto"/>
                <a:ea typeface="Noto Sans SC"/>
              </a:rPr>
              <a:t>Compounding recall gains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2288" y="2450592"/>
            <a:ext cx="2331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5F6368"/>
                </a:solidFill>
                <a:latin typeface="Roboto"/>
                <a:ea typeface="Noto Sans SC"/>
              </a:rPr>
              <a:t>Upgrading from Round 1 quick scan to --deep + c3_hybrid_max lifts yield 4.92x in Node.js and 9.0x in Java.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09560" y="4169663"/>
            <a:ext cx="3730752" cy="2139696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09560" y="4169663"/>
            <a:ext cx="73152" cy="2139696"/>
          </a:xfrm>
          <a:prstGeom prst="rect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crub:native=859x859;crop=0.000,0.000;out=432x432;exif=0;origin=genim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5008" y="4325112"/>
            <a:ext cx="987552" cy="9875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62288" y="4325112"/>
            <a:ext cx="2331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124"/>
                </a:solidFill>
                <a:latin typeface="Roboto"/>
                <a:ea typeface="Noto Sans SC"/>
              </a:rPr>
              <a:t>0% false-positive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288" y="4745736"/>
            <a:ext cx="2331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5F6368"/>
                </a:solidFill>
                <a:latin typeface="Roboto"/>
                <a:ea typeface="Noto Sans SC"/>
              </a:rPr>
              <a:t>Verified by poc_exploit.py: 11/11 vulnerable endpoints detected with 0 false alarms on safe_join.</a:t>
            </a:r>
          </a:p>
        </p:txBody>
      </p:sp>
      <p:sp>
        <p:nvSpPr>
          <p:cNvPr id="8" name="sig-mark"/>
          <p:cNvSpPr/>
          <p:nvPr/>
        </p:nvSpPr>
        <p:spPr>
          <a:xfrm>
            <a:off x="1799471" y="6556248"/>
            <a:ext cx="91440" cy="91440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ig-mark"/>
          <p:cNvSpPr/>
          <p:nvPr/>
        </p:nvSpPr>
        <p:spPr>
          <a:xfrm>
            <a:off x="1982351" y="6556248"/>
            <a:ext cx="91440" cy="91440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ig-mark"/>
          <p:cNvSpPr/>
          <p:nvPr/>
        </p:nvSpPr>
        <p:spPr>
          <a:xfrm>
            <a:off x="2165231" y="6556248"/>
            <a:ext cx="91440" cy="91440"/>
          </a:xfrm>
          <a:prstGeom prst="ellipse">
            <a:avLst/>
          </a:prstGeom>
          <a:solidFill>
            <a:srgbClr val="FBBC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ig-mark"/>
          <p:cNvSpPr/>
          <p:nvPr/>
        </p:nvSpPr>
        <p:spPr>
          <a:xfrm>
            <a:off x="2348111" y="6556248"/>
            <a:ext cx="91440" cy="91440"/>
          </a:xfrm>
          <a:prstGeom prst="ellipse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ub:native=3168x451;crop=0.000,0.000;out=3165x451;enc=jpeg;exif=0;origin=gen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737360"/>
          </a:xfrm>
          <a:prstGeom prst="rect">
            <a:avLst/>
          </a:prstGeom>
        </p:spPr>
      </p:pic>
      <p:sp>
        <p:nvSpPr>
          <p:cNvPr id="3" name="dh-header-kicker"/>
          <p:cNvSpPr txBox="1"/>
          <p:nvPr/>
        </p:nvSpPr>
        <p:spPr>
          <a:xfrm>
            <a:off x="502920" y="274320"/>
            <a:ext cx="52728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285F4"/>
                </a:solidFill>
                <a:latin typeface="Roboto"/>
                <a:ea typeface="Noto Sans SC"/>
              </a:rPr>
              <a:t>DIRECTORY SCOPING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5272887" cy="891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02124"/>
                </a:solidFill>
                <a:latin typeface="Roboto"/>
                <a:ea typeface="Noto Sans SC"/>
              </a:rPr>
              <a:t>Tiered scoping scales across all 14 apps</a:t>
            </a:r>
          </a:p>
        </p:txBody>
      </p:sp>
      <p:pic>
        <p:nvPicPr>
          <p:cNvPr id="5" name="Picture 4" descr="g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528816"/>
            <a:ext cx="1067951" cy="164592"/>
          </a:xfrm>
          <a:prstGeom prst="rect">
            <a:avLst/>
          </a:prstGeom>
        </p:spPr>
      </p:pic>
      <p:sp>
        <p:nvSpPr>
          <p:cNvPr id="6" name="pageno"/>
          <p:cNvSpPr txBox="1"/>
          <p:nvPr/>
        </p:nvSpPr>
        <p:spPr>
          <a:xfrm>
            <a:off x="11018520" y="651967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F6368"/>
                </a:solidFill>
                <a:latin typeface="Roboto"/>
                <a:ea typeface="Noto Sans SC"/>
              </a:rPr>
              <a:t>8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74519"/>
            <a:ext cx="3564026" cy="224028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3564026" cy="54864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crub:native=792x792;crop=0.000,0.000;out=392x392;exif=0;origin=genim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2039112"/>
            <a:ext cx="896112" cy="896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82495" y="2039112"/>
            <a:ext cx="230215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02124"/>
                </a:solidFill>
                <a:latin typeface="Roboto"/>
                <a:ea typeface="Noto Sans SC"/>
              </a:rPr>
              <a:t>C/C++ &amp; Python modules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82495" y="2423160"/>
            <a:ext cx="230215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>
                <a:solidFill>
                  <a:srgbClr val="185ABC"/>
                </a:solidFill>
                <a:latin typeface="Roboto"/>
                <a:ea typeface="Noto Sans SC"/>
              </a:rPr>
              <a:t>1–10 files · 1–3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82495" y="2770632"/>
            <a:ext cx="2302154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193"/>
              </a:lnSpc>
            </a:pPr>
            <a:r>
              <a:rPr sz="969" b="0">
                <a:solidFill>
                  <a:srgbClr val="5F6368"/>
                </a:solidFill>
                <a:latin typeface="Roboto"/>
                <a:ea typeface="Noto Sans SC"/>
              </a:rPr>
              <a:t>Scan crypto/protocol libs and Python WSGI apps with Quick+c3 or Argon --deep (100% GT).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3834" y="1874519"/>
            <a:ext cx="3564026" cy="224028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3834" y="1874519"/>
            <a:ext cx="3564026" cy="54864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crub:native=952x952;crop=0.000,0.000;out=392x392;exif=0;origin=genim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0138" y="2039112"/>
            <a:ext cx="896112" cy="8961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47690" y="2039112"/>
            <a:ext cx="230215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02124"/>
                </a:solidFill>
                <a:latin typeface="Roboto"/>
                <a:ea typeface="Noto Sans SC"/>
              </a:rPr>
              <a:t>Web backends (JS/Java/Ruby)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7690" y="2423160"/>
            <a:ext cx="230215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>
                <a:solidFill>
                  <a:srgbClr val="137333"/>
                </a:solidFill>
                <a:latin typeface="Roboto"/>
                <a:ea typeface="Noto Sans SC"/>
              </a:rPr>
              <a:t>15–50 files · 3–6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7690" y="2770632"/>
            <a:ext cx="2302154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193"/>
              </a:lnSpc>
            </a:pPr>
            <a:r>
              <a:rPr sz="969" b="0">
                <a:solidFill>
                  <a:srgbClr val="5F6368"/>
                </a:solidFill>
                <a:latin typeface="Roboto"/>
                <a:ea typeface="Noto Sans SC"/>
              </a:rPr>
              <a:t>Pair 16⁠-⁠worker --deep with PROJECT_FILE_INDEX.md for 118 JS &amp; 90 Java bugs.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79028" y="1874519"/>
            <a:ext cx="3564026" cy="224028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79028" y="1874519"/>
            <a:ext cx="3564026" cy="54864"/>
          </a:xfrm>
          <a:prstGeom prst="rect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crub:native=1024x1024;crop=0.000,0.000;out=392x392;exif=0;origin=genim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5332" y="2039112"/>
            <a:ext cx="896112" cy="89611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212884" y="2039112"/>
            <a:ext cx="230215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02124"/>
                </a:solidFill>
                <a:latin typeface="Roboto"/>
                <a:ea typeface="Noto Sans SC"/>
              </a:rPr>
              <a:t>Ops, CI &amp; key-mgmt repos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12884" y="2423160"/>
            <a:ext cx="230215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>
                <a:solidFill>
                  <a:srgbClr val="C5221F"/>
                </a:solidFill>
                <a:latin typeface="Roboto"/>
                <a:ea typeface="Noto Sans SC"/>
              </a:rPr>
              <a:t>120–300+ files · 10–15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12884" y="2770632"/>
            <a:ext cx="2302154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193"/>
              </a:lnSpc>
            </a:pPr>
            <a:r>
              <a:rPr sz="969" b="0">
                <a:solidFill>
                  <a:srgbClr val="5F6368"/>
                </a:solidFill>
                <a:latin typeface="Roboto"/>
                <a:ea typeface="Noto Sans SC"/>
              </a:rPr>
              <a:t>Partition monoliths by service boundary and exclude generated ORM POJOs.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548640" y="4279392"/>
            <a:ext cx="11094415" cy="1481328"/>
            <a:chOff x="548640" y="4279392"/>
            <a:chExt cx="11094415" cy="1481328"/>
          </a:xfrm>
        </p:grpSpPr>
        <p:sp>
          <p:nvSpPr>
            <p:cNvPr id="30" name="Rectangle 29"/>
            <p:cNvSpPr/>
            <p:nvPr/>
          </p:nvSpPr>
          <p:spPr>
            <a:xfrm>
              <a:off x="548640" y="4279392"/>
              <a:ext cx="11094415" cy="310896"/>
            </a:xfrm>
            <a:prstGeom prst="rect">
              <a:avLst/>
            </a:prstGeom>
            <a:solidFill>
              <a:srgbClr val="D2E3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548640" y="4882896"/>
              <a:ext cx="11094415" cy="292608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48640" y="5468112"/>
              <a:ext cx="11094415" cy="292608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548640" y="4577486"/>
              <a:ext cx="11094415" cy="18288"/>
            </a:xfrm>
            <a:prstGeom prst="rect">
              <a:avLst/>
            </a:prstGeom>
            <a:solidFill>
              <a:srgbClr val="DADCE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40080" y="4279392"/>
              <a:ext cx="182880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1">
                  <a:solidFill>
                    <a:srgbClr val="202124"/>
                  </a:solidFill>
                  <a:latin typeface="Roboto"/>
                  <a:ea typeface="Noto Sans SC"/>
                </a:rPr>
                <a:t>14-App target category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651760" y="4279392"/>
              <a:ext cx="68580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1">
                  <a:solidFill>
                    <a:srgbClr val="202124"/>
                  </a:solidFill>
                  <a:latin typeface="Roboto"/>
                  <a:ea typeface="Noto Sans SC"/>
                </a:rPr>
                <a:t>Files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520440" y="4279392"/>
              <a:ext cx="2240279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1">
                  <a:solidFill>
                    <a:srgbClr val="202124"/>
                  </a:solidFill>
                  <a:latin typeface="Roboto"/>
                  <a:ea typeface="Noto Sans SC"/>
                </a:rPr>
                <a:t>Recommended mode &amp; model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5943600" y="4279392"/>
              <a:ext cx="1920239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1">
                  <a:solidFill>
                    <a:srgbClr val="202124"/>
                  </a:solidFill>
                  <a:latin typeface="Roboto"/>
                  <a:ea typeface="Noto Sans SC"/>
                </a:rPr>
                <a:t>Verified benchmark yield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046719" y="4279392"/>
              <a:ext cx="86868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1">
                  <a:solidFill>
                    <a:srgbClr val="202124"/>
                  </a:solidFill>
                  <a:latin typeface="Roboto"/>
                  <a:ea typeface="Noto Sans SC"/>
                </a:rPr>
                <a:t>Time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9098280" y="4279392"/>
              <a:ext cx="2453335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1">
                  <a:solidFill>
                    <a:srgbClr val="202124"/>
                  </a:solidFill>
                  <a:latin typeface="Roboto"/>
                  <a:ea typeface="Noto Sans SC"/>
                </a:rPr>
                <a:t>Key scoping rule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40080" y="4590288"/>
              <a:ext cx="182880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Python WSGI / C-C++ libs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2651760" y="4590288"/>
              <a:ext cx="68580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2–15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3520440" y="4590288"/>
              <a:ext cx="2240279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3.8 Cyber Quick or 4 Argon --deep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5943600" y="4590288"/>
              <a:ext cx="1920239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100% (11/11) GT / 77.8% CVE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8046719" y="4590288"/>
              <a:ext cx="86868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76s–133s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9098280" y="4590288"/>
              <a:ext cx="2453335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Co-locate wrappers (.h/.c, sansio)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640080" y="4882896"/>
              <a:ext cx="182880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Node.js / TS web apps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2651760" y="4882896"/>
              <a:ext cx="68580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16–35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3520440" y="4882896"/>
              <a:ext cx="2240279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3.8 Flash (--deep w=16 t=8 + c3)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5943600" y="4882896"/>
              <a:ext cx="1920239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118 bugs (19 Crit / 58 High)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8046719" y="4882896"/>
              <a:ext cx="86868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224s–536s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098280" y="4882896"/>
              <a:ext cx="2453335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Include routes/.ts, lib/, views/.pug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640080" y="5175504"/>
              <a:ext cx="182880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Java / Spring backends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2651760" y="5175504"/>
              <a:ext cx="68580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20–48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3520440" y="5175504"/>
              <a:ext cx="2240279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4 Argon (--deep w=16 t=8 + c3)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5943600" y="5175504"/>
              <a:ext cx="1920239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90 bugs (8 Crit / 36 High)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8046719" y="5175504"/>
              <a:ext cx="86868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327s–672s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9098280" y="5175504"/>
              <a:ext cx="2453335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Add .xml/.yml; exclude mall-mbg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640080" y="5468112"/>
              <a:ext cx="182880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Ops / CI / Ruby / PHP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2651760" y="5468112"/>
              <a:ext cx="68580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30–100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3520440" y="5468112"/>
              <a:ext cx="2240279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3.8 Flash / 4 Argon (--deep + c3)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5943600" y="5468112"/>
              <a:ext cx="1920239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Full multi-CWE traversal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8046719" y="5468112"/>
              <a:ext cx="86868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5–12m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9098280" y="5468112"/>
              <a:ext cx="2453335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sz="919" b="0">
                  <a:solidFill>
                    <a:srgbClr val="202124"/>
                  </a:solidFill>
                  <a:latin typeface="Roboto"/>
                  <a:ea typeface="Noto Sans SC"/>
                </a:rPr>
                <a:t>Partition auth, key-mgmt &amp; CI</a:t>
              </a:r>
            </a:p>
          </p:txBody>
        </p:sp>
      </p:grpSp>
      <p:sp>
        <p:nvSpPr>
          <p:cNvPr id="7" name="sig-mark"/>
          <p:cNvSpPr/>
          <p:nvPr/>
        </p:nvSpPr>
        <p:spPr>
          <a:xfrm>
            <a:off x="1799471" y="6556248"/>
            <a:ext cx="91440" cy="91440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ig-mark"/>
          <p:cNvSpPr/>
          <p:nvPr/>
        </p:nvSpPr>
        <p:spPr>
          <a:xfrm>
            <a:off x="1982351" y="6556248"/>
            <a:ext cx="91440" cy="91440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ig-mark"/>
          <p:cNvSpPr/>
          <p:nvPr/>
        </p:nvSpPr>
        <p:spPr>
          <a:xfrm>
            <a:off x="2165231" y="6556248"/>
            <a:ext cx="91440" cy="91440"/>
          </a:xfrm>
          <a:prstGeom prst="ellipse">
            <a:avLst/>
          </a:prstGeom>
          <a:solidFill>
            <a:srgbClr val="FBBC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ig-mark"/>
          <p:cNvSpPr/>
          <p:nvPr/>
        </p:nvSpPr>
        <p:spPr>
          <a:xfrm>
            <a:off x="2348111" y="6556248"/>
            <a:ext cx="91440" cy="91440"/>
          </a:xfrm>
          <a:prstGeom prst="ellipse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ub:native=3168x451;crop=0.000,0.000;out=3165x451;enc=jpeg;exif=0;origin=gen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7373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737360"/>
          </a:xfrm>
          <a:prstGeom prst="rect">
            <a:avLst/>
          </a:prstGeom>
          <a:solidFill>
            <a:srgbClr val="FFFFFF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h-header-kicker"/>
          <p:cNvSpPr txBox="1"/>
          <p:nvPr/>
        </p:nvSpPr>
        <p:spPr>
          <a:xfrm>
            <a:off x="502920" y="274320"/>
            <a:ext cx="47395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85ABC"/>
                </a:solidFill>
                <a:latin typeface="Roboto"/>
                <a:ea typeface="Noto Sans SC"/>
              </a:rPr>
              <a:t>TYPESCRIPT ROUTES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4739500" cy="891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02124"/>
                </a:solidFill>
                <a:latin typeface="Roboto"/>
                <a:ea typeface="Noto Sans SC"/>
              </a:rPr>
              <a:t>Node.js deep scan captures 118 findings</a:t>
            </a:r>
          </a:p>
        </p:txBody>
      </p:sp>
      <p:pic>
        <p:nvPicPr>
          <p:cNvPr id="6" name="Picture 5" descr="g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528816"/>
            <a:ext cx="1067951" cy="164592"/>
          </a:xfrm>
          <a:prstGeom prst="rect">
            <a:avLst/>
          </a:prstGeom>
        </p:spPr>
      </p:pic>
      <p:sp>
        <p:nvSpPr>
          <p:cNvPr id="7" name="pageno"/>
          <p:cNvSpPr txBox="1"/>
          <p:nvPr/>
        </p:nvSpPr>
        <p:spPr>
          <a:xfrm>
            <a:off x="11018520" y="651967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F6368"/>
                </a:solidFill>
                <a:latin typeface="Roboto"/>
                <a:ea typeface="Noto Sans SC"/>
              </a:rPr>
              <a:t>9 /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74519"/>
            <a:ext cx="4800600" cy="443484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crub:native=2752x1536;crop=0.009,0.000;out=1972x1120;enc=jpeg;exif=0;origin=genim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2011680"/>
            <a:ext cx="4507992" cy="2560320"/>
          </a:xfrm>
          <a:prstGeom prst="rect">
            <a:avLst/>
          </a:prstGeom>
        </p:spPr>
      </p:pic>
      <p:pic>
        <p:nvPicPr>
          <p:cNvPr id="14" name="Picture 13" descr="scrub:native=1014x1014;crop=0.000,0.000;out=472x472;exif=0;origin=genim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4709160"/>
            <a:ext cx="1078992" cy="1078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01952" y="473659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124"/>
                </a:solidFill>
                <a:latin typeface="Roboto"/>
                <a:ea typeface="Noto Sans SC"/>
              </a:rPr>
              <a:t>4.92x over quick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1952" y="5102352"/>
            <a:ext cx="3291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5F6368"/>
                </a:solidFill>
                <a:latin typeface="Roboto"/>
                <a:ea typeface="Noto Sans SC"/>
              </a:rPr>
              <a:t>Lifts Node.js yield from 24 (Quick c0) to 118 bugs (19 Crit, 58 High, 35 CWEs) in 223.7s.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5532120" y="1874519"/>
            <a:ext cx="6110935" cy="3398520"/>
            <a:chOff x="5532120" y="1874519"/>
            <a:chExt cx="6110935" cy="3398520"/>
          </a:xfrm>
        </p:grpSpPr>
        <p:sp>
          <p:nvSpPr>
            <p:cNvPr id="18" name="Rectangle 17"/>
            <p:cNvSpPr/>
            <p:nvPr/>
          </p:nvSpPr>
          <p:spPr>
            <a:xfrm>
              <a:off x="5532120" y="1874519"/>
              <a:ext cx="6110935" cy="417576"/>
            </a:xfrm>
            <a:prstGeom prst="rect">
              <a:avLst/>
            </a:prstGeom>
            <a:solidFill>
              <a:srgbClr val="D2E3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532120" y="2691383"/>
              <a:ext cx="6110935" cy="292608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532120" y="3276599"/>
              <a:ext cx="6110935" cy="399288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532120" y="4075175"/>
              <a:ext cx="6110935" cy="399288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532120" y="4873751"/>
              <a:ext cx="6110935" cy="399288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5532120" y="2279294"/>
              <a:ext cx="6110935" cy="18288"/>
            </a:xfrm>
            <a:prstGeom prst="rect">
              <a:avLst/>
            </a:prstGeom>
            <a:solidFill>
              <a:srgbClr val="DADCE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623559" y="1874519"/>
              <a:ext cx="1965960" cy="41757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40"/>
                </a:lnSpc>
              </a:pPr>
              <a:r>
                <a:rPr sz="950" b="1">
                  <a:solidFill>
                    <a:srgbClr val="202124"/>
                  </a:solidFill>
                  <a:latin typeface="Roboto"/>
                  <a:ea typeface="Noto Sans SC"/>
                </a:rPr>
                <a:t>Vulnerability class (CWE)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772400" y="1874519"/>
              <a:ext cx="457199" cy="41757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40"/>
                </a:lnSpc>
              </a:pPr>
              <a:r>
                <a:rPr sz="950" b="1">
                  <a:solidFill>
                    <a:srgbClr val="202124"/>
                  </a:solidFill>
                  <a:latin typeface="Roboto"/>
                  <a:ea typeface="Noto Sans SC"/>
                </a:rPr>
                <a:t>Bugs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412480" y="1874519"/>
              <a:ext cx="3139135" cy="41757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40"/>
                </a:lnSpc>
              </a:pPr>
              <a:r>
                <a:rPr sz="950" b="1">
                  <a:solidFill>
                    <a:srgbClr val="202124"/>
                  </a:solidFill>
                  <a:latin typeface="Roboto"/>
                  <a:ea typeface="Noto Sans SC"/>
                </a:rPr>
                <a:t>Representative files &amp; sinks (Benchmark)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623559" y="2292095"/>
              <a:ext cx="1965960" cy="39928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CWE⁠-⁠94 / 1336 Code &amp; SSTI RCE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772400" y="2292095"/>
              <a:ext cx="457199" cy="39928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14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412480" y="2292095"/>
              <a:ext cx="3139135" cy="39928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views/promotionVideo.pug, b2bOrder.ts (vm)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623559" y="2691383"/>
              <a:ext cx="196596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CWE-89 SQL Injection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772400" y="2691383"/>
              <a:ext cx="457199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8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412480" y="2691383"/>
              <a:ext cx="3139135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routes/search.ts, login.ts (Sequelize raw)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623559" y="2983991"/>
              <a:ext cx="196596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CWE-943 NoSQL Injection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772400" y="2983991"/>
              <a:ext cx="457199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9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412480" y="2983991"/>
              <a:ext cx="3139135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routes/showProductReviews.ts, trackOrder.ts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623559" y="3276599"/>
              <a:ext cx="1965960" cy="39928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CWE⁠-⁠918 Server-Side Request Forgery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772400" y="3276599"/>
              <a:ext cx="457199" cy="39928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5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412480" y="3276599"/>
              <a:ext cx="3139135" cy="39928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routes/profileImageUrlUpload.ts (HTTP fetch)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5623559" y="3675887"/>
              <a:ext cx="1965960" cy="39928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CWE⁠-⁠22 / 611 Path Traversal &amp; XXE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772400" y="3675887"/>
              <a:ext cx="457199" cy="39928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12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412480" y="3675887"/>
              <a:ext cx="3139135" cy="39928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routes/fileUpload.ts (Zip Slip &amp; libxmljs XXE)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623559" y="4075175"/>
              <a:ext cx="1965960" cy="39928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CWE⁠-⁠347 / 327 JWT &amp; Crypto Flaws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772400" y="4075175"/>
              <a:ext cx="457199" cy="39928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15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8412480" y="4075175"/>
              <a:ext cx="3139135" cy="39928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lib/insecurity.ts (RS256-&gt;HS256, MD5, keys)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5623559" y="4474463"/>
              <a:ext cx="1965960" cy="39928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CWE⁠-⁠639 / 862 Broken Access Control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772400" y="4474463"/>
              <a:ext cx="457199" cy="39928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21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412480" y="4474463"/>
              <a:ext cx="3139135" cy="39928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routes/basket.ts (IDOR), dataErasure.ts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5623559" y="4873751"/>
              <a:ext cx="1965960" cy="39928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CWE⁠-⁠79 / 601 XSS &amp; Open Redirect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7772400" y="4873751"/>
              <a:ext cx="457199" cy="39928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16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8412480" y="4873751"/>
              <a:ext cx="3139135" cy="39928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40"/>
                </a:lnSpc>
              </a:pPr>
              <a:r>
                <a:rPr sz="950" b="0">
                  <a:solidFill>
                    <a:srgbClr val="202124"/>
                  </a:solidFill>
                  <a:latin typeface="Roboto"/>
                  <a:ea typeface="Noto Sans SC"/>
                </a:rPr>
                <a:t>routes/redirect.ts, userProfile.ts (XSS)</a:t>
              </a:r>
            </a:p>
          </p:txBody>
        </p:sp>
      </p:grpSp>
      <p:sp>
        <p:nvSpPr>
          <p:cNvPr id="8" name="sig-mark"/>
          <p:cNvSpPr/>
          <p:nvPr/>
        </p:nvSpPr>
        <p:spPr>
          <a:xfrm>
            <a:off x="1799471" y="6556248"/>
            <a:ext cx="91440" cy="91440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ig-mark"/>
          <p:cNvSpPr/>
          <p:nvPr/>
        </p:nvSpPr>
        <p:spPr>
          <a:xfrm>
            <a:off x="1982351" y="6556248"/>
            <a:ext cx="91440" cy="91440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ig-mark"/>
          <p:cNvSpPr/>
          <p:nvPr/>
        </p:nvSpPr>
        <p:spPr>
          <a:xfrm>
            <a:off x="2165231" y="6556248"/>
            <a:ext cx="91440" cy="91440"/>
          </a:xfrm>
          <a:prstGeom prst="ellipse">
            <a:avLst/>
          </a:prstGeom>
          <a:solidFill>
            <a:srgbClr val="FBBC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ig-mark"/>
          <p:cNvSpPr/>
          <p:nvPr/>
        </p:nvSpPr>
        <p:spPr>
          <a:xfrm>
            <a:off x="2348111" y="6556248"/>
            <a:ext cx="91440" cy="91440"/>
          </a:xfrm>
          <a:prstGeom prst="ellipse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ub:native=3168x451;crop=0.000,0.000;out=3165x451;enc=jpeg;exif=0;origin=gen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7373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737360"/>
          </a:xfrm>
          <a:prstGeom prst="rect">
            <a:avLst/>
          </a:prstGeom>
          <a:solidFill>
            <a:srgbClr val="FFFFFF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h-header-kicker"/>
          <p:cNvSpPr txBox="1"/>
          <p:nvPr/>
        </p:nvSpPr>
        <p:spPr>
          <a:xfrm>
            <a:off x="502920" y="274320"/>
            <a:ext cx="52728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85ABC"/>
                </a:solidFill>
                <a:latin typeface="Roboto"/>
                <a:ea typeface="Noto Sans SC"/>
              </a:rPr>
              <a:t>MYBATIS MAPPERS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5272887" cy="891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02124"/>
                </a:solidFill>
                <a:latin typeface="Roboto"/>
                <a:ea typeface="Noto Sans SC"/>
              </a:rPr>
              <a:t>Spring Boot &amp; MyBatis rules find 90 bugs</a:t>
            </a:r>
          </a:p>
        </p:txBody>
      </p:sp>
      <p:pic>
        <p:nvPicPr>
          <p:cNvPr id="6" name="Picture 5" descr="g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528816"/>
            <a:ext cx="1067951" cy="164592"/>
          </a:xfrm>
          <a:prstGeom prst="rect">
            <a:avLst/>
          </a:prstGeom>
        </p:spPr>
      </p:pic>
      <p:sp>
        <p:nvSpPr>
          <p:cNvPr id="7" name="pageno"/>
          <p:cNvSpPr txBox="1"/>
          <p:nvPr/>
        </p:nvSpPr>
        <p:spPr>
          <a:xfrm>
            <a:off x="11018520" y="651967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F6368"/>
                </a:solidFill>
                <a:latin typeface="Roboto"/>
                <a:ea typeface="Noto Sans SC"/>
              </a:rPr>
              <a:t>10 /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74519"/>
            <a:ext cx="3564026" cy="3749039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74519"/>
            <a:ext cx="3564026" cy="64008"/>
          </a:xfrm>
          <a:prstGeom prst="rect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crub:native=779x779;crop=0.000,0.000;out=500x500;exif=0;origin=genim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5648" y="2075688"/>
            <a:ext cx="1143000" cy="1143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3355848"/>
            <a:ext cx="3198266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02124"/>
                </a:solidFill>
                <a:latin typeface="Roboto"/>
                <a:ea typeface="Noto Sans SC"/>
              </a:rPr>
              <a:t>MyBatis XML SQL injection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3867912"/>
            <a:ext cx="3106826" cy="0"/>
          </a:xfrm>
          <a:prstGeom prst="line">
            <a:avLst/>
          </a:prstGeom>
          <a:ln w="12700">
            <a:solidFill>
              <a:srgbClr val="DADC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3995927"/>
            <a:ext cx="319826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306"/>
              </a:lnSpc>
            </a:pPr>
            <a:r>
              <a:rPr sz="1019" b="0">
                <a:solidFill>
                  <a:srgbClr val="5F6368"/>
                </a:solidFill>
                <a:latin typeface="Roboto"/>
                <a:ea typeface="Noto Sans SC"/>
              </a:rPr>
              <a:t>Adding .xml to config.yaml exposes ${} interpolation in OmsOrderDao.xml and PmsProductDao.xml (8 Critical).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3834" y="1874519"/>
            <a:ext cx="3564026" cy="3749039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3834" y="1874519"/>
            <a:ext cx="3564026" cy="64008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crub:native=890x890;crop=0.000,0.000;out=500x500;exif=0;origin=genim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0842" y="2075688"/>
            <a:ext cx="1143000" cy="1143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496714" y="3355848"/>
            <a:ext cx="3198266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02124"/>
                </a:solidFill>
                <a:latin typeface="Roboto"/>
                <a:ea typeface="Noto Sans SC"/>
              </a:rPr>
              <a:t>Broken auth &amp; order IDOR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42434" y="3867912"/>
            <a:ext cx="3106826" cy="0"/>
          </a:xfrm>
          <a:prstGeom prst="line">
            <a:avLst/>
          </a:prstGeom>
          <a:ln w="12700">
            <a:solidFill>
              <a:srgbClr val="DADC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496714" y="3995927"/>
            <a:ext cx="319826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306"/>
              </a:lnSpc>
            </a:pPr>
            <a:r>
              <a:rPr sz="1019" b="0">
                <a:solidFill>
                  <a:srgbClr val="5F6368"/>
                </a:solidFill>
                <a:latin typeface="Roboto"/>
                <a:ea typeface="Noto Sans SC"/>
              </a:rPr>
              <a:t>Pairing portal controllers with SecurityConfig exposes unauthenticated admin routes and order IDOR (36 High).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9028" y="1874519"/>
            <a:ext cx="3564026" cy="3749039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79028" y="1874519"/>
            <a:ext cx="3564026" cy="64008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crub:native=856x856;crop=0.000,0.000;out=500x500;exif=0;origin=genim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6036" y="2075688"/>
            <a:ext cx="1143000" cy="1143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61908" y="3355848"/>
            <a:ext cx="3198266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02124"/>
                </a:solidFill>
                <a:latin typeface="Roboto"/>
                <a:ea typeface="Noto Sans SC"/>
              </a:rPr>
              <a:t>YAML secrets &amp; OSS upload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307628" y="3867912"/>
            <a:ext cx="3106827" cy="0"/>
          </a:xfrm>
          <a:prstGeom prst="line">
            <a:avLst/>
          </a:prstGeom>
          <a:ln w="12700">
            <a:solidFill>
              <a:srgbClr val="DADC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261908" y="3995927"/>
            <a:ext cx="319826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306"/>
              </a:lnSpc>
            </a:pPr>
            <a:r>
              <a:rPr sz="1019" b="0">
                <a:solidFill>
                  <a:srgbClr val="5F6368"/>
                </a:solidFill>
                <a:latin typeface="Roboto"/>
                <a:ea typeface="Noto Sans SC"/>
              </a:rPr>
              <a:t>Adding .yml to config.yaml catches hardcoded JWT/DB secrets in application.yml and MinioController XSS.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797296"/>
            <a:ext cx="11094415" cy="530352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797296"/>
            <a:ext cx="73152" cy="530352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59" y="5870448"/>
            <a:ext cx="10637215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96"/>
              </a:lnSpc>
            </a:pPr>
            <a:r>
              <a:rPr sz="1080" b="0">
                <a:solidFill>
                  <a:srgbClr val="202124"/>
                </a:solidFill>
                <a:latin typeface="Roboto"/>
                <a:ea typeface="Noto Sans SC"/>
              </a:rPr>
              <a:t>Why default Java scans miss bugs: Round 1 config.yaml omitted .xml and .yml—adding them lifts Mall 9.0x (10 -&gt; 90).</a:t>
            </a:r>
          </a:p>
        </p:txBody>
      </p:sp>
      <p:sp>
        <p:nvSpPr>
          <p:cNvPr id="8" name="sig-mark"/>
          <p:cNvSpPr/>
          <p:nvPr/>
        </p:nvSpPr>
        <p:spPr>
          <a:xfrm>
            <a:off x="1799471" y="6556248"/>
            <a:ext cx="91440" cy="91440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ig-mark"/>
          <p:cNvSpPr/>
          <p:nvPr/>
        </p:nvSpPr>
        <p:spPr>
          <a:xfrm>
            <a:off x="1982351" y="6556248"/>
            <a:ext cx="91440" cy="91440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ig-mark"/>
          <p:cNvSpPr/>
          <p:nvPr/>
        </p:nvSpPr>
        <p:spPr>
          <a:xfrm>
            <a:off x="2165231" y="6556248"/>
            <a:ext cx="91440" cy="91440"/>
          </a:xfrm>
          <a:prstGeom prst="ellipse">
            <a:avLst/>
          </a:prstGeom>
          <a:solidFill>
            <a:srgbClr val="FBBC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ig-mark"/>
          <p:cNvSpPr/>
          <p:nvPr/>
        </p:nvSpPr>
        <p:spPr>
          <a:xfrm>
            <a:off x="2348111" y="6556248"/>
            <a:ext cx="91440" cy="91440"/>
          </a:xfrm>
          <a:prstGeom prst="ellipse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ub:native=3168x451;crop=0.000,0.000;out=3165x451;enc=jpeg;exif=0;origin=gen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7373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737360"/>
          </a:xfrm>
          <a:prstGeom prst="rect">
            <a:avLst/>
          </a:prstGeom>
          <a:solidFill>
            <a:srgbClr val="FFFFFF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h-header-kicker"/>
          <p:cNvSpPr txBox="1"/>
          <p:nvPr/>
        </p:nvSpPr>
        <p:spPr>
          <a:xfrm>
            <a:off x="502920" y="274320"/>
            <a:ext cx="456170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85ABC"/>
                </a:solidFill>
                <a:latin typeface="Roboto"/>
                <a:ea typeface="Noto Sans SC"/>
              </a:rPr>
              <a:t>PIPELINE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4561705" cy="891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02124"/>
                </a:solidFill>
                <a:latin typeface="Roboto"/>
                <a:ea typeface="Noto Sans SC"/>
              </a:rPr>
              <a:t>Upgrade config.yaml &amp; CLI for all 14 apps</a:t>
            </a:r>
          </a:p>
        </p:txBody>
      </p:sp>
      <p:pic>
        <p:nvPicPr>
          <p:cNvPr id="6" name="Picture 5" descr="g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528816"/>
            <a:ext cx="1067951" cy="164592"/>
          </a:xfrm>
          <a:prstGeom prst="rect">
            <a:avLst/>
          </a:prstGeom>
        </p:spPr>
      </p:pic>
      <p:sp>
        <p:nvSpPr>
          <p:cNvPr id="7" name="pageno"/>
          <p:cNvSpPr txBox="1"/>
          <p:nvPr/>
        </p:nvSpPr>
        <p:spPr>
          <a:xfrm>
            <a:off x="11018520" y="651967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F6368"/>
                </a:solidFill>
                <a:latin typeface="Roboto"/>
                <a:ea typeface="Noto Sans SC"/>
              </a:rPr>
              <a:t>11 /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74519"/>
            <a:ext cx="6537960" cy="443484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74519"/>
            <a:ext cx="6537960" cy="64008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029968"/>
            <a:ext cx="60807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202124"/>
                </a:solidFill>
                <a:latin typeface="Roboto"/>
                <a:ea typeface="Noto Sans SC"/>
              </a:rPr>
              <a:t>Required upgrades over Round 1 config.yaml &amp; CLI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87168"/>
            <a:ext cx="60807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615184"/>
            <a:ext cx="5715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1">
                <a:solidFill>
                  <a:srgbClr val="202124"/>
                </a:solidFill>
                <a:latin typeface="Roboto"/>
                <a:ea typeface="Noto Sans SC"/>
              </a:rPr>
              <a:t>1. Expand ~/.codemender/config.yaml &amp; set incremental: false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980944"/>
            <a:ext cx="57150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185ABC"/>
                </a:solidFill>
                <a:latin typeface="Roboto"/>
                <a:ea typeface="Noto Sans SC"/>
              </a:rPr>
              <a:t>include: [.py,.java,.go,.js,.ts,.c,.cc,.cpp,.h,.rb,.php,.xml,.yml,.json,.pug,.txt]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694176"/>
            <a:ext cx="60807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22191"/>
            <a:ext cx="5715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1">
                <a:solidFill>
                  <a:srgbClr val="202124"/>
                </a:solidFill>
                <a:latin typeface="Roboto"/>
                <a:ea typeface="Noto Sans SC"/>
              </a:rPr>
              <a:t>2. Inject semantic c3_hybrid_max (-c with 0 literal file.ext)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187952"/>
            <a:ext cx="57150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137333"/>
                </a:solidFill>
                <a:latin typeface="Roboto"/>
                <a:ea typeface="Noto Sans SC"/>
              </a:rPr>
              <a:t>export CM_CTX="Read file index; check CVE versions, wrappers &amp; safe_join bypass."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901184"/>
            <a:ext cx="60807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029200"/>
            <a:ext cx="5715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1">
                <a:solidFill>
                  <a:srgbClr val="202124"/>
                </a:solidFill>
                <a:latin typeface="Roboto"/>
                <a:ea typeface="Noto Sans SC"/>
              </a:rPr>
              <a:t>3. Purge cache (cm clean) &amp; run 16-worker --deep (v0.14.0)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394960"/>
            <a:ext cx="57150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1">
                <a:solidFill>
                  <a:srgbClr val="C5221F"/>
                </a:solidFill>
                <a:latin typeface="Roboto"/>
                <a:ea typeface="Noto Sans SC"/>
              </a:rPr>
              <a:t>cm clean &amp;&amp; cm -y --sandbox=false find . --deep --deep-workers 16 --deep-max-turns 8 -c "$CM_CTX"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96912" y="1874519"/>
            <a:ext cx="4346143" cy="2139696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874519"/>
            <a:ext cx="73152" cy="2139696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crub:native=782x782;crop=0.000,0.000;out=432x432;exif=0;origin=genim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0" y="2029968"/>
            <a:ext cx="987552" cy="98755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549640" y="2029968"/>
            <a:ext cx="29443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124"/>
                </a:solidFill>
                <a:latin typeface="Roboto"/>
                <a:ea typeface="Noto Sans SC"/>
              </a:rPr>
              <a:t>Fix Round 1 config.yaml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2450592"/>
            <a:ext cx="2944368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28"/>
              </a:lnSpc>
            </a:pPr>
            <a:r>
              <a:rPr sz="990" b="0">
                <a:solidFill>
                  <a:srgbClr val="5F6368"/>
                </a:solidFill>
                <a:latin typeface="Roboto"/>
                <a:ea typeface="Noto Sans SC"/>
              </a:rPr>
              <a:t>Round 1 config.yaml had incremental: true and 500 KB cap; set incremental: false and 1000 KB for full audits.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96912" y="4169663"/>
            <a:ext cx="4346143" cy="2139696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96912" y="4169663"/>
            <a:ext cx="73152" cy="2139696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crub:native=792x792;crop=0.000,0.000;out=432x432;exif=0;origin=genim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4325112"/>
            <a:ext cx="987552" cy="98755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549640" y="4325112"/>
            <a:ext cx="29443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124"/>
                </a:solidFill>
                <a:latin typeface="Roboto"/>
                <a:ea typeface="Noto Sans SC"/>
              </a:rPr>
              <a:t>SAST baseline alignment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745736"/>
            <a:ext cx="2944368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28"/>
              </a:lnSpc>
            </a:pPr>
            <a:r>
              <a:rPr sz="990" b="0">
                <a:solidFill>
                  <a:srgbClr val="5F6368"/>
                </a:solidFill>
                <a:latin typeface="Roboto"/>
                <a:ea typeface="Noto Sans SC"/>
              </a:rPr>
              <a:t>Run cm clean before each benchmark and export cm report -f json to compare against existing SAST tools.</a:t>
            </a:r>
          </a:p>
        </p:txBody>
      </p:sp>
      <p:sp>
        <p:nvSpPr>
          <p:cNvPr id="8" name="sig-mark"/>
          <p:cNvSpPr/>
          <p:nvPr/>
        </p:nvSpPr>
        <p:spPr>
          <a:xfrm>
            <a:off x="1799471" y="6556248"/>
            <a:ext cx="91440" cy="91440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ig-mark"/>
          <p:cNvSpPr/>
          <p:nvPr/>
        </p:nvSpPr>
        <p:spPr>
          <a:xfrm>
            <a:off x="1982351" y="6556248"/>
            <a:ext cx="91440" cy="91440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ig-mark"/>
          <p:cNvSpPr/>
          <p:nvPr/>
        </p:nvSpPr>
        <p:spPr>
          <a:xfrm>
            <a:off x="2165231" y="6556248"/>
            <a:ext cx="91440" cy="91440"/>
          </a:xfrm>
          <a:prstGeom prst="ellipse">
            <a:avLst/>
          </a:prstGeom>
          <a:solidFill>
            <a:srgbClr val="FBBC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ig-mark"/>
          <p:cNvSpPr/>
          <p:nvPr/>
        </p:nvSpPr>
        <p:spPr>
          <a:xfrm>
            <a:off x="2348111" y="6556248"/>
            <a:ext cx="91440" cy="91440"/>
          </a:xfrm>
          <a:prstGeom prst="ellipse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ub:native=3168x451;crop=0.000,0.000;out=3165x451;enc=jpeg;exif=0;origin=gen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7373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737360"/>
          </a:xfrm>
          <a:prstGeom prst="rect">
            <a:avLst/>
          </a:prstGeom>
          <a:solidFill>
            <a:srgbClr val="FFFFFF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h-header-kicker"/>
          <p:cNvSpPr txBox="1"/>
          <p:nvPr/>
        </p:nvSpPr>
        <p:spPr>
          <a:xfrm>
            <a:off x="502920" y="274320"/>
            <a:ext cx="42823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85ABC"/>
                </a:solidFill>
                <a:latin typeface="Roboto"/>
                <a:ea typeface="Noto Sans SC"/>
              </a:rPr>
              <a:t>ROLLOUT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4282312" cy="891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02124"/>
                </a:solidFill>
                <a:latin typeface="Roboto"/>
                <a:ea typeface="Noto Sans SC"/>
              </a:rPr>
              <a:t>Roadmap from &gt;75% recall to cm fix</a:t>
            </a:r>
          </a:p>
        </p:txBody>
      </p:sp>
      <p:pic>
        <p:nvPicPr>
          <p:cNvPr id="6" name="Picture 5" descr="g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528816"/>
            <a:ext cx="1067951" cy="164592"/>
          </a:xfrm>
          <a:prstGeom prst="rect">
            <a:avLst/>
          </a:prstGeom>
        </p:spPr>
      </p:pic>
      <p:sp>
        <p:nvSpPr>
          <p:cNvPr id="7" name="pageno"/>
          <p:cNvSpPr txBox="1"/>
          <p:nvPr/>
        </p:nvSpPr>
        <p:spPr>
          <a:xfrm>
            <a:off x="11018520" y="651967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F6368"/>
                </a:solidFill>
                <a:latin typeface="Roboto"/>
                <a:ea typeface="Noto Sans SC"/>
              </a:rPr>
              <a:t>12 /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74519"/>
            <a:ext cx="3564026" cy="214884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74519"/>
            <a:ext cx="3564026" cy="54864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crub:native=888x888;crop=0.000,0.000;out=392x392;exif=0;origin=genim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2039112"/>
            <a:ext cx="896112" cy="8961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82495" y="2039112"/>
            <a:ext cx="230215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52"/>
              </a:lnSpc>
            </a:pPr>
            <a:r>
              <a:rPr sz="1150" b="1">
                <a:solidFill>
                  <a:srgbClr val="202124"/>
                </a:solidFill>
                <a:latin typeface="Roboto"/>
                <a:ea typeface="Noto Sans SC"/>
              </a:rPr>
              <a:t>Phase 1: Model &amp; config upgrade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82495" y="2478024"/>
            <a:ext cx="2302154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25"/>
              </a:lnSpc>
            </a:pPr>
            <a:r>
              <a:rPr sz="980" b="0">
                <a:solidFill>
                  <a:srgbClr val="5F6368"/>
                </a:solidFill>
                <a:latin typeface="Roboto"/>
                <a:ea typeface="Noto Sans SC"/>
              </a:rPr>
              <a:t>Enable 3.8 Flash Cyber &amp; 4 Argon; deploy expanded config.yaml and cm v0.14.0.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3834" y="1874519"/>
            <a:ext cx="3564026" cy="214884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3834" y="1874519"/>
            <a:ext cx="3564026" cy="54864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crub:native=840x840;crop=0.000,0.000;out=392x392;exif=0;origin=genim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0138" y="2039112"/>
            <a:ext cx="896112" cy="8961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47690" y="2039112"/>
            <a:ext cx="230215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52"/>
              </a:lnSpc>
            </a:pPr>
            <a:r>
              <a:rPr sz="1150" b="1">
                <a:solidFill>
                  <a:srgbClr val="202124"/>
                </a:solidFill>
                <a:latin typeface="Roboto"/>
                <a:ea typeface="Noto Sans SC"/>
              </a:rPr>
              <a:t>Phase 2: 14⁠-⁠app SAST benchmark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7690" y="2478024"/>
            <a:ext cx="2302154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25"/>
              </a:lnSpc>
            </a:pPr>
            <a:r>
              <a:rPr sz="980" b="0">
                <a:solidFill>
                  <a:srgbClr val="5F6368"/>
                </a:solidFill>
                <a:latin typeface="Roboto"/>
                <a:ea typeface="Noto Sans SC"/>
              </a:rPr>
              <a:t>Re-scan 385 historical bugs in C/C++, Java, JS &amp; Python with --deep + c3.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9028" y="1874519"/>
            <a:ext cx="3564026" cy="214884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9028" y="1874519"/>
            <a:ext cx="3564026" cy="54864"/>
          </a:xfrm>
          <a:prstGeom prst="rect">
            <a:avLst/>
          </a:prstGeom>
          <a:solidFill>
            <a:srgbClr val="FBBC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crub:native=815x815;crop=0.000,0.000;out=392x392;exif=0;origin=genim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5332" y="2039112"/>
            <a:ext cx="896112" cy="8961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212884" y="2039112"/>
            <a:ext cx="230215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52"/>
              </a:lnSpc>
            </a:pPr>
            <a:r>
              <a:rPr sz="1150" b="1">
                <a:solidFill>
                  <a:srgbClr val="202124"/>
                </a:solidFill>
                <a:latin typeface="Roboto"/>
                <a:ea typeface="Noto Sans SC"/>
              </a:rPr>
              <a:t>Phase 3: Verify &amp; cm fix rollout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2884" y="2478024"/>
            <a:ext cx="2302154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25"/>
              </a:lnSpc>
            </a:pPr>
            <a:r>
              <a:rPr sz="980" b="0">
                <a:solidFill>
                  <a:srgbClr val="5F6368"/>
                </a:solidFill>
                <a:latin typeface="Roboto"/>
                <a:ea typeface="Noto Sans SC"/>
              </a:rPr>
              <a:t>Once recall exceeds 75%–90%, expand from pure detection to cm verify &amp; cm fix.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548640" y="4206240"/>
            <a:ext cx="11094415" cy="1481328"/>
            <a:chOff x="548640" y="4206240"/>
            <a:chExt cx="11094415" cy="1481328"/>
          </a:xfrm>
        </p:grpSpPr>
        <p:sp>
          <p:nvSpPr>
            <p:cNvPr id="28" name="Rectangle 27"/>
            <p:cNvSpPr/>
            <p:nvPr/>
          </p:nvSpPr>
          <p:spPr>
            <a:xfrm>
              <a:off x="548640" y="4206240"/>
              <a:ext cx="11094415" cy="310896"/>
            </a:xfrm>
            <a:prstGeom prst="rect">
              <a:avLst/>
            </a:prstGeom>
            <a:solidFill>
              <a:srgbClr val="D2E3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48640" y="4809744"/>
              <a:ext cx="11094415" cy="292608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548640" y="5394960"/>
              <a:ext cx="11094415" cy="292608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548640" y="4504334"/>
              <a:ext cx="11094415" cy="18288"/>
            </a:xfrm>
            <a:prstGeom prst="rect">
              <a:avLst/>
            </a:prstGeom>
            <a:solidFill>
              <a:srgbClr val="DADCE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40080" y="4206240"/>
              <a:ext cx="196596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1">
                  <a:solidFill>
                    <a:srgbClr val="202124"/>
                  </a:solidFill>
                  <a:latin typeface="Roboto"/>
                  <a:ea typeface="Noto Sans SC"/>
                </a:rPr>
                <a:t>Evaluation requirement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788920" y="4206240"/>
              <a:ext cx="2606039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1">
                  <a:solidFill>
                    <a:srgbClr val="202124"/>
                  </a:solidFill>
                  <a:latin typeface="Roboto"/>
                  <a:ea typeface="Noto Sans SC"/>
                </a:rPr>
                <a:t>Round 1 / 2 bottleneck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577840" y="4206240"/>
              <a:ext cx="288036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1">
                  <a:solidFill>
                    <a:srgbClr val="202124"/>
                  </a:solidFill>
                  <a:latin typeface="Roboto"/>
                  <a:ea typeface="Noto Sans SC"/>
                </a:rPr>
                <a:t>Recommended v0.14.0 setup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641080" y="4206240"/>
              <a:ext cx="2910535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1">
                  <a:solidFill>
                    <a:srgbClr val="202124"/>
                  </a:solidFill>
                  <a:latin typeface="Roboto"/>
                  <a:ea typeface="Noto Sans SC"/>
                </a:rPr>
                <a:t>Verified benchmark outcome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40080" y="4517136"/>
              <a:ext cx="196596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1. Overcome 4.7% R1 recall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2788920" y="4517136"/>
              <a:ext cx="2606039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18/385 (4.7%) on 3.5 Flash quick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577840" y="4517136"/>
              <a:ext cx="288036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--deep (w=16, t=8) + Cyber / Argon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641080" y="4517136"/>
              <a:ext cx="2910535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77.8% Werkzeug &amp; 100% Py GT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40080" y="4809744"/>
              <a:ext cx="196596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2. Wrapper &amp; guard gaps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2788920" y="4809744"/>
              <a:ext cx="2606039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Missed #8 sansio &amp; #9–12 safe_join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577840" y="4809744"/>
              <a:ext cx="288036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Co-locate slices + guard-bypass -c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641080" y="4809744"/>
              <a:ext cx="2910535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100% recall, 0% FP on safe_join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640080" y="5102352"/>
              <a:ext cx="196596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3. Multi-language scale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2788920" y="5102352"/>
              <a:ext cx="2606039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14 apps (C/C++, Java, JS, Py, Ruby)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5577840" y="5102352"/>
              <a:ext cx="288036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Add .xml/.yml/.pug + FILE_INDEX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641080" y="5102352"/>
              <a:ext cx="2910535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118 JS (4.9x) &amp; 90 Java (9.0x)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640080" y="5394960"/>
              <a:ext cx="196596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4. Automated patching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2788920" y="5394960"/>
              <a:ext cx="2606039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Detection focus until recall &gt;75%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5577840" y="5394960"/>
              <a:ext cx="2880360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Gate cm verify &amp; cm fix on CWEs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8641080" y="5394960"/>
              <a:ext cx="2910535" cy="29260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lnSpc>
                  <a:spcPts val="1116"/>
                </a:lnSpc>
              </a:pPr>
              <a:r>
                <a:rPr sz="930" b="0">
                  <a:solidFill>
                    <a:srgbClr val="202124"/>
                  </a:solidFill>
                  <a:latin typeface="Roboto"/>
                  <a:ea typeface="Noto Sans SC"/>
                </a:rPr>
                <a:t>Ready for Phase 3 patch trials</a:t>
              </a:r>
            </a:p>
          </p:txBody>
        </p:sp>
      </p:grpSp>
      <p:sp>
        <p:nvSpPr>
          <p:cNvPr id="8" name="sig-mark"/>
          <p:cNvSpPr/>
          <p:nvPr/>
        </p:nvSpPr>
        <p:spPr>
          <a:xfrm>
            <a:off x="1799471" y="6556248"/>
            <a:ext cx="91440" cy="91440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ig-mark"/>
          <p:cNvSpPr/>
          <p:nvPr/>
        </p:nvSpPr>
        <p:spPr>
          <a:xfrm>
            <a:off x="1982351" y="6556248"/>
            <a:ext cx="91440" cy="91440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ig-mark"/>
          <p:cNvSpPr/>
          <p:nvPr/>
        </p:nvSpPr>
        <p:spPr>
          <a:xfrm>
            <a:off x="2165231" y="6556248"/>
            <a:ext cx="91440" cy="91440"/>
          </a:xfrm>
          <a:prstGeom prst="ellipse">
            <a:avLst/>
          </a:prstGeom>
          <a:solidFill>
            <a:srgbClr val="FBBC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ig-mark"/>
          <p:cNvSpPr/>
          <p:nvPr/>
        </p:nvSpPr>
        <p:spPr>
          <a:xfrm>
            <a:off x="2348111" y="6556248"/>
            <a:ext cx="91440" cy="91440"/>
          </a:xfrm>
          <a:prstGeom prst="ellipse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(16:9)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CodeMender deep-scan blueprint</dc:title>
  <dc:subject/>
  <dc:creator>Google Cloud</dc:creator>
  <cp:keywords/>
  <dc:description>deck_helpers.save/1 pagenos=ok signatures=ok sweep=ok pages=12</dc:description>
  <cp:lastModifiedBy>Google Cloud</cp:lastModifiedBy>
  <cp:revision>1</cp:revision>
  <dcterms:created xsi:type="dcterms:W3CDTF">2026-10-15T07:28:02Z</dcterms:created>
  <dcterms:modified xsi:type="dcterms:W3CDTF">2026-10-15T07:28:02Z</dcterms:modified>
  <cp:category/>
</cp:coreProperties>
</file>